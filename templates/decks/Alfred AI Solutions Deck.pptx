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FF84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3.1</c:v>
                </c:pt>
                <c:pt idx="1">
                  <c:v>3.4</c:v>
                </c:pt>
                <c:pt idx="2">
                  <c:v>3.2</c:v>
                </c:pt>
                <c:pt idx="3">
                  <c:v>3.8</c:v>
                </c:pt>
                <c:pt idx="4">
                  <c:v>4</c:v>
                </c:pt>
                <c:pt idx="5">
                  <c:v>3.7</c:v>
                </c:pt>
                <c:pt idx="6">
                  <c:v>4.5</c:v>
                </c:pt>
                <c:pt idx="7">
                  <c:v>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FF84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2.8</c:v>
                </c:pt>
                <c:pt idx="1">
                  <c:v>3.1</c:v>
                </c:pt>
                <c:pt idx="2">
                  <c:v>3.4</c:v>
                </c:pt>
                <c:pt idx="3">
                  <c:v>3.2</c:v>
                </c:pt>
                <c:pt idx="4">
                  <c:v>3.6</c:v>
                </c:pt>
                <c:pt idx="5">
                  <c:v>3.9</c:v>
                </c:pt>
                <c:pt idx="6">
                  <c:v>4</c:v>
                </c:pt>
                <c:pt idx="7">
                  <c:v>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FF84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2.1</c:v>
                </c:pt>
                <c:pt idx="1">
                  <c:v>2.3</c:v>
                </c:pt>
                <c:pt idx="2">
                  <c:v>2.2</c:v>
                </c:pt>
                <c:pt idx="3">
                  <c:v>2.4</c:v>
                </c:pt>
                <c:pt idx="4">
                  <c:v>2.5</c:v>
                </c:pt>
                <c:pt idx="5">
                  <c:v>2.5</c:v>
                </c:pt>
                <c:pt idx="6">
                  <c:v>2.6</c:v>
                </c:pt>
                <c:pt idx="7">
                  <c:v>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FF84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88</c:v>
                </c:pt>
                <c:pt idx="1">
                  <c:v>90</c:v>
                </c:pt>
                <c:pt idx="2">
                  <c:v>89</c:v>
                </c:pt>
                <c:pt idx="3">
                  <c:v>91</c:v>
                </c:pt>
                <c:pt idx="4">
                  <c:v>92</c:v>
                </c:pt>
                <c:pt idx="5">
                  <c:v>93</c:v>
                </c:pt>
                <c:pt idx="6">
                  <c:v>93</c:v>
                </c:pt>
                <c:pt idx="7">
                  <c:v>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FF84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4.2</c:v>
                </c:pt>
                <c:pt idx="1">
                  <c:v>4.5</c:v>
                </c:pt>
                <c:pt idx="2">
                  <c:v>4.6</c:v>
                </c:pt>
                <c:pt idx="3">
                  <c:v>4.7</c:v>
                </c:pt>
                <c:pt idx="4">
                  <c:v>4.8</c:v>
                </c:pt>
                <c:pt idx="5">
                  <c:v>4.9</c:v>
                </c:pt>
                <c:pt idx="6">
                  <c:v>5</c:v>
                </c:pt>
                <c:pt idx="7">
                  <c:v>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186693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7720" y="2190720"/>
            <a:ext cx="962022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0" b="1" spc="-10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organisational memory layer.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1047720" y="4248120"/>
            <a:ext cx="914400" cy="3813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5" name="Text 3"/>
          <p:cNvSpPr/>
          <p:nvPr/>
        </p:nvSpPr>
        <p:spPr>
          <a:xfrm>
            <a:off x="1047720" y="4552980"/>
            <a:ext cx="857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is the organisational memory layer — connecting every function's data into a single continuously updated intelligence that watches, warns, recommends, and acts.</a:t>
            </a:r>
            <a:endParaRPr lang="en-US" sz="1500" dirty="0"/>
          </a:p>
        </p:txBody>
      </p:sp>
      <p:pic>
        <p:nvPicPr>
          <p:cNvPr id="6" name="Image 0" descr="assets/alfred-logo-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20" y="5942046"/>
            <a:ext cx="1428750" cy="3444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10280" y="6009437"/>
            <a:ext cx="53339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Seed · 2026 · Confidential   ·   E902 AI Labs Private Limited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87627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7720" y="1104870"/>
            <a:ext cx="100965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6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C-Suite has two important jobs.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47720" y="1904970"/>
            <a:ext cx="4762470" cy="2857500"/>
          </a:xfrm>
          <a:prstGeom prst="roundRect">
            <a:avLst>
              <a:gd name="adj" fmla="val 8000"/>
            </a:avLst>
          </a:prstGeom>
          <a:solidFill>
            <a:srgbClr val="F9F9F9"/>
          </a:solidFill>
          <a:ln/>
        </p:spPr>
      </p:sp>
      <p:sp>
        <p:nvSpPr>
          <p:cNvPr id="5" name="Text 3"/>
          <p:cNvSpPr/>
          <p:nvPr/>
        </p:nvSpPr>
        <p:spPr>
          <a:xfrm>
            <a:off x="1314450" y="2133570"/>
            <a:ext cx="42291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" kern="0" dirty="0">
                <a:solidFill>
                  <a:srgbClr val="1E94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Should be doing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14450" y="2495580"/>
            <a:ext cx="42291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Create value for their customers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14450" y="2800350"/>
            <a:ext cx="422910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Direction, customer insight, what to build next.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14450" y="3448020"/>
            <a:ext cx="42291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Get more customers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4450" y="3752880"/>
            <a:ext cx="422910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GTM strategy, key relationships, the narrative that wins deals.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86500" y="1904970"/>
            <a:ext cx="485775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203200" dist="63500" dir="5400000">
              <a:srgbClr val="9CA3AF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3230" y="2133570"/>
            <a:ext cx="432438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40" kern="0" dirty="0">
                <a:solidFill>
                  <a:srgbClr val="F26A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Actually doing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53230" y="2457450"/>
            <a:ext cx="514350" cy="24762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553230" y="2447940"/>
            <a:ext cx="51435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26A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CEO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81880" y="2438430"/>
            <a:ext cx="373377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Discovering in the room that every function brought a different version of the same business.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53230" y="3162270"/>
            <a:ext cx="514350" cy="24762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/>
        </p:spPr>
      </p:sp>
      <p:sp>
        <p:nvSpPr>
          <p:cNvPr id="16" name="Text 14"/>
          <p:cNvSpPr/>
          <p:nvPr/>
        </p:nvSpPr>
        <p:spPr>
          <a:xfrm>
            <a:off x="6553230" y="3152760"/>
            <a:ext cx="51435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26A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CFO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81880" y="3143250"/>
            <a:ext cx="373377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Losing days to board prep, chasing four teams for numbers that never reconcile.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53230" y="3867180"/>
            <a:ext cx="514350" cy="24762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/>
        </p:spPr>
      </p:sp>
      <p:sp>
        <p:nvSpPr>
          <p:cNvPr id="19" name="Text 17"/>
          <p:cNvSpPr/>
          <p:nvPr/>
        </p:nvSpPr>
        <p:spPr>
          <a:xfrm>
            <a:off x="6553230" y="3857671"/>
            <a:ext cx="51435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26A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81880" y="3848070"/>
            <a:ext cx="373377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Finding out mid-delivery that sales over-committed, blind to what ops could actually deliver.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47720" y="5029200"/>
            <a:ext cx="100965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202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org has no memory, so its sharpest people spend their days rebuilding context instead of creating value.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47720" y="5981730"/>
            <a:ext cx="9334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· One memory. The whole organisation. · E902 AI Labs · Seed · Confidential 2026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572750" y="5981730"/>
            <a:ext cx="571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87627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7720" y="1104870"/>
            <a:ext cx="100965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spc="-6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Every function has a brilliant mind. The org has no memory.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47720" y="2000250"/>
            <a:ext cx="3209910" cy="238128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2580640000" dist="806450000" dir="324000000000">
              <a:srgbClr val="9CA3AF">
                <a:alpha val="16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95430" y="2247870"/>
            <a:ext cx="323880" cy="57150"/>
          </a:xfrm>
          <a:prstGeom prst="roundRect">
            <a:avLst>
              <a:gd name="adj" fmla="val 50080"/>
            </a:avLst>
          </a:prstGeom>
          <a:solidFill>
            <a:srgbClr val="FF8431"/>
          </a:solidFill>
          <a:ln/>
        </p:spPr>
      </p:sp>
      <p:sp>
        <p:nvSpPr>
          <p:cNvPr id="6" name="Text 4"/>
          <p:cNvSpPr/>
          <p:nvPr/>
        </p:nvSpPr>
        <p:spPr>
          <a:xfrm>
            <a:off x="1295430" y="2457450"/>
            <a:ext cx="2714671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spc="-2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Every function thinks alone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30" y="3105120"/>
            <a:ext cx="271467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Marketing knows its campaigns. Finance knows its numbers. Ops knows its patterns. Each is capable but none of it connects into one picture.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6321" y="2000250"/>
            <a:ext cx="3209910" cy="238128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32774128000000" dist="10241915000000" dir="19440000000000000">
              <a:srgbClr val="9CA3AF">
                <a:alpha val="1600000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33940" y="2247870"/>
            <a:ext cx="323880" cy="57150"/>
          </a:xfrm>
          <a:prstGeom prst="roundRect">
            <a:avLst>
              <a:gd name="adj" fmla="val 50080"/>
            </a:avLst>
          </a:prstGeom>
          <a:solidFill>
            <a:srgbClr val="FF8431"/>
          </a:solidFill>
          <a:ln/>
        </p:spPr>
      </p:sp>
      <p:sp>
        <p:nvSpPr>
          <p:cNvPr id="10" name="Text 8"/>
          <p:cNvSpPr/>
          <p:nvPr/>
        </p:nvSpPr>
        <p:spPr>
          <a:xfrm>
            <a:off x="4733940" y="2457450"/>
            <a:ext cx="2714671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spc="-2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Same Mistakes Recur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33940" y="3105120"/>
            <a:ext cx="271467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You're in the board meeting. Someone asks about pipeline velocity. Your best answer is last quarter's number. The real answer is buried in four spreadsheets nobody's reconciled.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24830" y="2000250"/>
            <a:ext cx="3209910" cy="238128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416231425600000000" dist="130072320500000000" dir="1.1664e+21">
              <a:srgbClr val="9CA3AF">
                <a:alpha val="160000000000000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72450" y="2247870"/>
            <a:ext cx="323880" cy="57150"/>
          </a:xfrm>
          <a:prstGeom prst="roundRect">
            <a:avLst>
              <a:gd name="adj" fmla="val 50080"/>
            </a:avLst>
          </a:prstGeom>
          <a:solidFill>
            <a:srgbClr val="FF8431"/>
          </a:solidFill>
          <a:ln/>
        </p:spPr>
      </p:sp>
      <p:sp>
        <p:nvSpPr>
          <p:cNvPr id="14" name="Text 12"/>
          <p:cNvSpPr/>
          <p:nvPr/>
        </p:nvSpPr>
        <p:spPr>
          <a:xfrm>
            <a:off x="8172450" y="2457450"/>
            <a:ext cx="2714671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spc="-2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History disappears in motion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72450" y="3105120"/>
            <a:ext cx="271467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decision gets made. Six months later nobody can trace whether it worked, why it worked, or whether to do it again. The context behind it disappears.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47720" y="4762470"/>
            <a:ext cx="100965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0202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right data is never in the right place at the right time. By the time you find it, the decision is already made.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47720" y="5981730"/>
            <a:ext cx="9334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· One memory. The whole organisation. · E902 AI Labs · Seed · Confidential 2026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572750" y="5981730"/>
            <a:ext cx="571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87627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7720" y="1104870"/>
            <a:ext cx="100965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6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Just connect your tools, Alfred does the rest.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62070" y="2581260"/>
            <a:ext cx="3038460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19690" y="2581260"/>
            <a:ext cx="3038460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7720" y="2400300"/>
            <a:ext cx="381030" cy="381030"/>
          </a:xfrm>
          <a:prstGeom prst="roundRect">
            <a:avLst>
              <a:gd name="adj" fmla="val 29998"/>
            </a:avLst>
          </a:prstGeom>
          <a:solidFill>
            <a:srgbClr val="FF8431"/>
          </a:solidFill>
          <a:ln/>
          <a:effectLst>
            <a:outerShdw sx="100000" sy="100000" kx="0" ky="0" algn="bl" rotWithShape="0" blurRad="127000" dist="38100" dir="5400000">
              <a:srgbClr val="FF8431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47720" y="2400300"/>
            <a:ext cx="3810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7720" y="2952780"/>
            <a:ext cx="305757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spc="-2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Connect Everything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47720" y="3276570"/>
            <a:ext cx="305757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CRM, ERP, Email, Meetings, Campaigns, Documents, Slack. One integration layer.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05340" y="2400300"/>
            <a:ext cx="381030" cy="381030"/>
          </a:xfrm>
          <a:prstGeom prst="roundRect">
            <a:avLst>
              <a:gd name="adj" fmla="val 29998"/>
            </a:avLst>
          </a:prstGeom>
          <a:solidFill>
            <a:srgbClr val="FF8431"/>
          </a:solidFill>
          <a:ln/>
          <a:effectLst>
            <a:outerShdw sx="100000" sy="100000" kx="0" ky="0" algn="bl" rotWithShape="0" blurRad="127000" dist="38100" dir="5400000">
              <a:srgbClr val="FF8431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05340" y="2400300"/>
            <a:ext cx="3810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05340" y="2952780"/>
            <a:ext cx="305757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spc="-2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Remember Forever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05340" y="3276570"/>
            <a:ext cx="305757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Persistent memory across all sessions, all functions, all decisions.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62870" y="2400300"/>
            <a:ext cx="381030" cy="381030"/>
          </a:xfrm>
          <a:prstGeom prst="roundRect">
            <a:avLst>
              <a:gd name="adj" fmla="val 29998"/>
            </a:avLst>
          </a:prstGeom>
          <a:solidFill>
            <a:srgbClr val="FF8431"/>
          </a:solidFill>
          <a:ln/>
          <a:effectLst>
            <a:outerShdw sx="100000" sy="100000" kx="0" ky="0" algn="bl" rotWithShape="0" blurRad="127000" dist="38100" dir="5400000">
              <a:srgbClr val="FF8431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62870" y="2400300"/>
            <a:ext cx="3810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962870" y="2952780"/>
            <a:ext cx="3057571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spc="-2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Act with Approval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962870" y="3276570"/>
            <a:ext cx="305757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Agentic execution with human approval for every consequential action. Audit trail 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47720" y="4762470"/>
            <a:ext cx="1904970" cy="24762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20" y="4752960"/>
            <a:ext cx="190497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26A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Persistent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43250" y="4762470"/>
            <a:ext cx="1904970" cy="24762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/>
        </p:spPr>
      </p:sp>
      <p:sp>
        <p:nvSpPr>
          <p:cNvPr id="21" name="Text 19"/>
          <p:cNvSpPr/>
          <p:nvPr/>
        </p:nvSpPr>
        <p:spPr>
          <a:xfrm>
            <a:off x="3143250" y="4752960"/>
            <a:ext cx="190497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26A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Cross-functional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38780" y="4762470"/>
            <a:ext cx="1904970" cy="24762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/>
        </p:spPr>
      </p:sp>
      <p:sp>
        <p:nvSpPr>
          <p:cNvPr id="23" name="Text 21"/>
          <p:cNvSpPr/>
          <p:nvPr/>
        </p:nvSpPr>
        <p:spPr>
          <a:xfrm>
            <a:off x="5238780" y="4752960"/>
            <a:ext cx="190497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26A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Compounding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34220" y="4762470"/>
            <a:ext cx="1904970" cy="247620"/>
          </a:xfrm>
          <a:prstGeom prst="roundRect">
            <a:avLst>
              <a:gd name="adj" fmla="val 50000"/>
            </a:avLst>
          </a:prstGeom>
          <a:solidFill>
            <a:srgbClr val="FFF3EA"/>
          </a:solidFill>
          <a:ln/>
        </p:spPr>
      </p:sp>
      <p:sp>
        <p:nvSpPr>
          <p:cNvPr id="25" name="Text 23"/>
          <p:cNvSpPr/>
          <p:nvPr/>
        </p:nvSpPr>
        <p:spPr>
          <a:xfrm>
            <a:off x="7334220" y="4752960"/>
            <a:ext cx="190497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26A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Human-in-the-loop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47720" y="5981730"/>
            <a:ext cx="9334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· One memory. The whole organisation. · E902 AI Labs · Seed · Confidential 2026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572750" y="5981730"/>
            <a:ext cx="571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8001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7720" y="1028700"/>
            <a:ext cx="723903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6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Five Modules. One Memory.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47720" y="1600200"/>
            <a:ext cx="9525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Each new module adds cross-functional depth to Alfred's shared memory.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47720" y="2019270"/>
            <a:ext cx="1912650" cy="3067080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.28613910512e+21" dist="1.65191847035e+21" dir="6.9984e+25">
              <a:srgbClr val="9CA3AF">
                <a:alpha val="1.6e+2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19170" y="2209830"/>
            <a:ext cx="156975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CMO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19170" y="2495580"/>
            <a:ext cx="609630" cy="247620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/>
        </p:spPr>
      </p:sp>
      <p:sp>
        <p:nvSpPr>
          <p:cNvPr id="8" name="Text 6"/>
          <p:cNvSpPr/>
          <p:nvPr/>
        </p:nvSpPr>
        <p:spPr>
          <a:xfrm>
            <a:off x="1219170" y="2486071"/>
            <a:ext cx="6096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1E94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● LIVE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19170" y="3000421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10" name="Text 8"/>
          <p:cNvSpPr/>
          <p:nvPr/>
        </p:nvSpPr>
        <p:spPr>
          <a:xfrm>
            <a:off x="1333470" y="289563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Spend Mix Optimizer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219170" y="3305190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470" y="320040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Creative Fatigue Intelligence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19170" y="3609960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470" y="350517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Creative Generation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219170" y="3914821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470" y="381003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Visibility (AEO)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219170" y="4219590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18" name="Text 16"/>
          <p:cNvSpPr/>
          <p:nvPr/>
        </p:nvSpPr>
        <p:spPr>
          <a:xfrm>
            <a:off x="1333470" y="411480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Unified KPI Cockpit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219170" y="4524360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470" y="441957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CMO Bulletin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93690" y="2019270"/>
            <a:ext cx="1912650" cy="3067080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6.7133966635024e+25" dist="2.0979364573445003e+25" dir="4.19904e+30">
              <a:srgbClr val="9CA3AF">
                <a:alpha val="1.6e+29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65140" y="2209830"/>
            <a:ext cx="156975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CFO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265140" y="2495580"/>
            <a:ext cx="609630" cy="247620"/>
          </a:xfrm>
          <a:prstGeom prst="roundRect">
            <a:avLst>
              <a:gd name="adj" fmla="val 50000"/>
            </a:avLst>
          </a:prstGeom>
          <a:solidFill>
            <a:srgbClr val="F3F3FF"/>
          </a:solidFill>
          <a:ln/>
        </p:spPr>
      </p:sp>
      <p:sp>
        <p:nvSpPr>
          <p:cNvPr id="24" name="Text 22"/>
          <p:cNvSpPr/>
          <p:nvPr/>
        </p:nvSpPr>
        <p:spPr>
          <a:xfrm>
            <a:off x="3265140" y="2486071"/>
            <a:ext cx="6096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 DEV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65140" y="3000421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26" name="Text 24"/>
          <p:cNvSpPr/>
          <p:nvPr/>
        </p:nvSpPr>
        <p:spPr>
          <a:xfrm>
            <a:off x="3379440" y="289563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P&amp;L Intelligence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65140" y="3305190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28" name="Text 26"/>
          <p:cNvSpPr/>
          <p:nvPr/>
        </p:nvSpPr>
        <p:spPr>
          <a:xfrm>
            <a:off x="3379440" y="320040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 &amp; AR Intelligence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65140" y="3609960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30" name="Text 28"/>
          <p:cNvSpPr/>
          <p:nvPr/>
        </p:nvSpPr>
        <p:spPr>
          <a:xfrm>
            <a:off x="3379440" y="350517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Financial Health optimization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65140" y="3914821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32" name="Text 30"/>
          <p:cNvSpPr/>
          <p:nvPr/>
        </p:nvSpPr>
        <p:spPr>
          <a:xfrm>
            <a:off x="3379440" y="381003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Forecast Engine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65140" y="4219590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34" name="Text 32"/>
          <p:cNvSpPr/>
          <p:nvPr/>
        </p:nvSpPr>
        <p:spPr>
          <a:xfrm>
            <a:off x="3379440" y="411480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Board Pack Automation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65140" y="4524360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36" name="Text 34"/>
          <p:cNvSpPr/>
          <p:nvPr/>
        </p:nvSpPr>
        <p:spPr>
          <a:xfrm>
            <a:off x="3379440" y="441957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CFO Bulletin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39660" y="2019270"/>
            <a:ext cx="1912650" cy="3067080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8.526013762648047e+29" dist="2.6643793008275154e+29" dir="2.519424e+35">
              <a:srgbClr val="9CA3AF">
                <a:alpha val="1.6e+34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311110" y="2209830"/>
            <a:ext cx="156975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CSO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311110" y="2495580"/>
            <a:ext cx="609630" cy="247620"/>
          </a:xfrm>
          <a:prstGeom prst="roundRect">
            <a:avLst>
              <a:gd name="adj" fmla="val 50000"/>
            </a:avLst>
          </a:prstGeom>
          <a:solidFill>
            <a:srgbClr val="F3F3FF"/>
          </a:solidFill>
          <a:ln/>
        </p:spPr>
      </p:sp>
      <p:sp>
        <p:nvSpPr>
          <p:cNvPr id="40" name="Text 38"/>
          <p:cNvSpPr/>
          <p:nvPr/>
        </p:nvSpPr>
        <p:spPr>
          <a:xfrm>
            <a:off x="5311110" y="2486071"/>
            <a:ext cx="6096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 DEV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11110" y="3000421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42" name="Text 40"/>
          <p:cNvSpPr/>
          <p:nvPr/>
        </p:nvSpPr>
        <p:spPr>
          <a:xfrm>
            <a:off x="5425410" y="289563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Sales Play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11110" y="3305190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44" name="Text 42"/>
          <p:cNvSpPr/>
          <p:nvPr/>
        </p:nvSpPr>
        <p:spPr>
          <a:xfrm>
            <a:off x="5425410" y="320040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Deal Deviation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11110" y="3609960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46" name="Text 44"/>
          <p:cNvSpPr/>
          <p:nvPr/>
        </p:nvSpPr>
        <p:spPr>
          <a:xfrm>
            <a:off x="5425410" y="350517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Revenue Signal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311110" y="3914821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48" name="Text 46"/>
          <p:cNvSpPr/>
          <p:nvPr/>
        </p:nvSpPr>
        <p:spPr>
          <a:xfrm>
            <a:off x="5425410" y="381003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Coaching Intelligence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311110" y="4219590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50" name="Text 48"/>
          <p:cNvSpPr/>
          <p:nvPr/>
        </p:nvSpPr>
        <p:spPr>
          <a:xfrm>
            <a:off x="5425410" y="411480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CSO Bulletin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185630" y="2019270"/>
            <a:ext cx="1912650" cy="3067080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.082803747856302e+34" dist="3.3837617120509443e+33" dir="1.5116544e+40">
              <a:srgbClr val="9CA3AF">
                <a:alpha val="1.6e+39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357080" y="2209830"/>
            <a:ext cx="156975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COO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7357080" y="2495580"/>
            <a:ext cx="800100" cy="247620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/>
        </p:spPr>
      </p:sp>
      <p:sp>
        <p:nvSpPr>
          <p:cNvPr id="54" name="Text 52"/>
          <p:cNvSpPr/>
          <p:nvPr/>
        </p:nvSpPr>
        <p:spPr>
          <a:xfrm>
            <a:off x="7357080" y="2486071"/>
            <a:ext cx="8001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357080" y="3000421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56" name="Text 54"/>
          <p:cNvSpPr/>
          <p:nvPr/>
        </p:nvSpPr>
        <p:spPr>
          <a:xfrm>
            <a:off x="7471380" y="289563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Supply Chain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357080" y="3305190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58" name="Text 56"/>
          <p:cNvSpPr/>
          <p:nvPr/>
        </p:nvSpPr>
        <p:spPr>
          <a:xfrm>
            <a:off x="7471380" y="320040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Demand Signals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357080" y="3609960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60" name="Text 58"/>
          <p:cNvSpPr/>
          <p:nvPr/>
        </p:nvSpPr>
        <p:spPr>
          <a:xfrm>
            <a:off x="7471380" y="350517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Vendor Memory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357080" y="3914821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62" name="Text 60"/>
          <p:cNvSpPr/>
          <p:nvPr/>
        </p:nvSpPr>
        <p:spPr>
          <a:xfrm>
            <a:off x="7471380" y="381003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COO Bulletin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9231600" y="2019270"/>
            <a:ext cx="1912650" cy="3067080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.3751607597775036e+38" dist="4.297377374304699e+37" dir="9.069926400000001e+44">
              <a:srgbClr val="9CA3AF">
                <a:alpha val="1.6e+44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9403050" y="2209830"/>
            <a:ext cx="156975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CEO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9403050" y="2495580"/>
            <a:ext cx="800100" cy="247620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/>
        </p:spPr>
      </p:sp>
      <p:sp>
        <p:nvSpPr>
          <p:cNvPr id="66" name="Text 64"/>
          <p:cNvSpPr/>
          <p:nvPr/>
        </p:nvSpPr>
        <p:spPr>
          <a:xfrm>
            <a:off x="9403050" y="2486071"/>
            <a:ext cx="8001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403050" y="3000421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68" name="Text 66"/>
          <p:cNvSpPr/>
          <p:nvPr/>
        </p:nvSpPr>
        <p:spPr>
          <a:xfrm>
            <a:off x="9517350" y="289563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Cross Functional Intelligence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403050" y="3305190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70" name="Text 68"/>
          <p:cNvSpPr/>
          <p:nvPr/>
        </p:nvSpPr>
        <p:spPr>
          <a:xfrm>
            <a:off x="9517350" y="320040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Board Prep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403050" y="3609960"/>
            <a:ext cx="47640" cy="4764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72" name="Text 70"/>
          <p:cNvSpPr/>
          <p:nvPr/>
        </p:nvSpPr>
        <p:spPr>
          <a:xfrm>
            <a:off x="9517350" y="3505170"/>
            <a:ext cx="149349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CEO Bulletin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1047720" y="5981730"/>
            <a:ext cx="9334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· One memory. The whole organisation. · E902 AI Labs · Seed · Confidential 2026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10572750" y="5981730"/>
            <a:ext cx="571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5715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DEEP DIVE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34620" y="552480"/>
            <a:ext cx="609630" cy="247620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/>
        </p:spPr>
      </p:sp>
      <p:sp>
        <p:nvSpPr>
          <p:cNvPr id="4" name="Text 2"/>
          <p:cNvSpPr/>
          <p:nvPr/>
        </p:nvSpPr>
        <p:spPr>
          <a:xfrm>
            <a:off x="10534620" y="542971"/>
            <a:ext cx="6096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1E94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●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7720" y="781080"/>
            <a:ext cx="761997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Alfred for Marketing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20" y="1314450"/>
            <a:ext cx="9525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02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knows what happened — and why.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7720" y="16002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conversation is stored as organisational memory. Nothing is lost.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47720" y="182880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9" name="Shape 7"/>
          <p:cNvSpPr/>
          <p:nvPr/>
        </p:nvSpPr>
        <p:spPr>
          <a:xfrm>
            <a:off x="1238280" y="201927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80" y="197172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Daily CMO Brief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38280" y="224787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Overnight monitoring of all channels, ranked by business impact. The CMO sees what moved, why, and what needs a decision — before the first meeting.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67210" y="182880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657771" y="201927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14" name="Text 12"/>
          <p:cNvSpPr/>
          <p:nvPr/>
        </p:nvSpPr>
        <p:spPr>
          <a:xfrm>
            <a:off x="4772071" y="197172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Spend Mix Analysis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57771" y="224787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Monitors marginal return per channel continuously. Flags diminishing returns before budget overshoots. Independent view of agency performance.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886700" y="182880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077170" y="201927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18" name="Text 16"/>
          <p:cNvSpPr/>
          <p:nvPr/>
        </p:nvSpPr>
        <p:spPr>
          <a:xfrm>
            <a:off x="8191470" y="197172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Creative Fatigue &amp; Gen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77170" y="224787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Tracks CTR decay and frequency. Triggers rotation before CPL is impacted. Generates briefs and copy from your own highest-performing history.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47720" y="314325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21" name="Shape 19"/>
          <p:cNvSpPr/>
          <p:nvPr/>
        </p:nvSpPr>
        <p:spPr>
          <a:xfrm>
            <a:off x="1238280" y="333372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22" name="Text 20"/>
          <p:cNvSpPr/>
          <p:nvPr/>
        </p:nvSpPr>
        <p:spPr>
          <a:xfrm>
            <a:off x="1352580" y="328617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AI Visibility Score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8280" y="356232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Measures brand citation in ChatGPT, Perplexity, Gemini, Copilot. Builds a prioritised content action list to close the AI citation gap.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67210" y="314325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657771" y="333372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26" name="Text 24"/>
          <p:cNvSpPr/>
          <p:nvPr/>
        </p:nvSpPr>
        <p:spPr>
          <a:xfrm>
            <a:off x="4772071" y="328617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Anomaly Alerts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57771" y="356232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Detects broken pixels, ad account issues, ROAS collapse, email deliverability degradation — before the team wastes a day optimising on corrupted data.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86700" y="314325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29" name="Shape 27"/>
          <p:cNvSpPr/>
          <p:nvPr/>
        </p:nvSpPr>
        <p:spPr>
          <a:xfrm>
            <a:off x="8077170" y="333372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30" name="Text 28"/>
          <p:cNvSpPr/>
          <p:nvPr/>
        </p:nvSpPr>
        <p:spPr>
          <a:xfrm>
            <a:off x="8191470" y="328617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KPI Dashboard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77170" y="356232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Live spend-to-pipeline connection. Tracks MQL funnel, CAC payback, marketing-sourced ARR — without requiring Marketing Ops to build the report.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47720" y="45720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PROOF OF VALUE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7720" y="4781580"/>
            <a:ext cx="24289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70%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47720" y="5086350"/>
            <a:ext cx="2371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Faster decision-making latency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71921" y="4781580"/>
            <a:ext cx="24289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10–12%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571921" y="5086350"/>
            <a:ext cx="2371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Reduction in ad spend waste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96030" y="4781580"/>
            <a:ext cx="24289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10+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096030" y="5086350"/>
            <a:ext cx="2371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Hours saved weekly on reporting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20140" y="4781580"/>
            <a:ext cx="24289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5–10%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620140" y="5086350"/>
            <a:ext cx="2371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ROI improvement per campaign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47720" y="5981730"/>
            <a:ext cx="9334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· One memory. The whole organisation. · E902 AI Labs · Seed · Confidential 2026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572750" y="5981730"/>
            <a:ext cx="571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55248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· ALFRED FOR MARKETING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7720" y="761970"/>
            <a:ext cx="9810780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b="1" spc="-4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Alfred knows what happened — and why.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47720" y="1428750"/>
            <a:ext cx="10096530" cy="4400550"/>
          </a:xfrm>
          <a:prstGeom prst="roundRect">
            <a:avLst>
              <a:gd name="adj" fmla="val 346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1.7464541649174296e+42" dist="5.457669265366968e+41" dir="5.44195584e+49">
              <a:srgbClr val="9CA3AF">
                <a:alpha val="1.6e+4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8280" y="1533540"/>
            <a:ext cx="85771" cy="85771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6" name="Shape 4"/>
          <p:cNvSpPr/>
          <p:nvPr/>
        </p:nvSpPr>
        <p:spPr>
          <a:xfrm>
            <a:off x="1390620" y="1533540"/>
            <a:ext cx="85771" cy="85771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7" name="Shape 5"/>
          <p:cNvSpPr/>
          <p:nvPr/>
        </p:nvSpPr>
        <p:spPr>
          <a:xfrm>
            <a:off x="1543050" y="1533540"/>
            <a:ext cx="85771" cy="85771"/>
          </a:xfrm>
          <a:prstGeom prst="ellipse">
            <a:avLst/>
          </a:prstGeom>
          <a:solidFill>
            <a:srgbClr val="D9D9E2"/>
          </a:solidFill>
          <a:ln/>
        </p:spPr>
      </p:sp>
      <p:sp>
        <p:nvSpPr>
          <p:cNvPr id="8" name="Text 6"/>
          <p:cNvSpPr/>
          <p:nvPr/>
        </p:nvSpPr>
        <p:spPr>
          <a:xfrm>
            <a:off x="1809780" y="1476390"/>
            <a:ext cx="85725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app.seekalfred.ai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47720" y="1714500"/>
            <a:ext cx="1009653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7030" y="1714500"/>
            <a:ext cx="0" cy="411480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pic>
        <p:nvPicPr>
          <p:cNvPr id="11" name="Image 0" descr="assets/alfred-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1866930"/>
            <a:ext cx="704820" cy="16998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238280" y="227649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13" name="Text 10"/>
          <p:cNvSpPr/>
          <p:nvPr/>
        </p:nvSpPr>
        <p:spPr>
          <a:xfrm>
            <a:off x="1428750" y="220983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Home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162020" y="2514600"/>
            <a:ext cx="1390620" cy="247620"/>
          </a:xfrm>
          <a:prstGeom prst="roundRect">
            <a:avLst>
              <a:gd name="adj" fmla="val 30761"/>
            </a:avLst>
          </a:prstGeom>
          <a:solidFill>
            <a:srgbClr val="FFF3EA"/>
          </a:solidFill>
          <a:ln/>
        </p:spPr>
      </p:sp>
      <p:sp>
        <p:nvSpPr>
          <p:cNvPr id="15" name="Shape 12"/>
          <p:cNvSpPr/>
          <p:nvPr/>
        </p:nvSpPr>
        <p:spPr>
          <a:xfrm>
            <a:off x="1238280" y="258126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FF8431"/>
          </a:solidFill>
          <a:ln/>
        </p:spPr>
      </p:sp>
      <p:sp>
        <p:nvSpPr>
          <p:cNvPr id="16" name="Text 13"/>
          <p:cNvSpPr/>
          <p:nvPr/>
        </p:nvSpPr>
        <p:spPr>
          <a:xfrm>
            <a:off x="1428750" y="251460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6A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KPI Cockpit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238280" y="2886121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18" name="Text 15"/>
          <p:cNvSpPr/>
          <p:nvPr/>
        </p:nvSpPr>
        <p:spPr>
          <a:xfrm>
            <a:off x="1428750" y="281937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Spend &amp; ROI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238280" y="319089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20" name="Text 17"/>
          <p:cNvSpPr/>
          <p:nvPr/>
        </p:nvSpPr>
        <p:spPr>
          <a:xfrm>
            <a:off x="1428750" y="312423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Decision Alerts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238280" y="349566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22" name="Text 19"/>
          <p:cNvSpPr/>
          <p:nvPr/>
        </p:nvSpPr>
        <p:spPr>
          <a:xfrm>
            <a:off x="1428750" y="342900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Creative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181130" y="5200650"/>
            <a:ext cx="1352580" cy="266730"/>
          </a:xfrm>
          <a:prstGeom prst="roundRect">
            <a:avLst>
              <a:gd name="adj" fmla="val 28557"/>
            </a:avLst>
          </a:prstGeom>
          <a:solidFill>
            <a:srgbClr val="FF8431"/>
          </a:solidFill>
          <a:ln/>
        </p:spPr>
      </p:sp>
      <p:sp>
        <p:nvSpPr>
          <p:cNvPr id="24" name="Text 21"/>
          <p:cNvSpPr/>
          <p:nvPr/>
        </p:nvSpPr>
        <p:spPr>
          <a:xfrm>
            <a:off x="1276320" y="5200650"/>
            <a:ext cx="12382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Pro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200150" y="5543550"/>
            <a:ext cx="190470" cy="190470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26" name="Text 23"/>
          <p:cNvSpPr/>
          <p:nvPr/>
        </p:nvSpPr>
        <p:spPr>
          <a:xfrm>
            <a:off x="1447770" y="5543550"/>
            <a:ext cx="1143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Priya · CMO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667030" y="2133570"/>
            <a:ext cx="847722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19370" y="1714500"/>
            <a:ext cx="65722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KPI Cockpit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9486900" y="1800271"/>
            <a:ext cx="1504920" cy="247620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39330" y="1800271"/>
            <a:ext cx="135258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Ask or search…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819370" y="2286000"/>
            <a:ext cx="2647920" cy="723930"/>
          </a:xfrm>
          <a:prstGeom prst="roundRect">
            <a:avLst>
              <a:gd name="adj" fmla="val 15789"/>
            </a:avLst>
          </a:prstGeom>
          <a:solidFill>
            <a:srgbClr val="F9F9F9"/>
          </a:solidFill>
          <a:ln/>
        </p:spPr>
      </p:sp>
      <p:sp>
        <p:nvSpPr>
          <p:cNvPr id="32" name="Text 29"/>
          <p:cNvSpPr/>
          <p:nvPr/>
        </p:nvSpPr>
        <p:spPr>
          <a:xfrm>
            <a:off x="2952780" y="2400300"/>
            <a:ext cx="24193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Blended ROAS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952780" y="2552730"/>
            <a:ext cx="2419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4.8x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4857750" y="2409810"/>
            <a:ext cx="4762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94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+12.4%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581680" y="2286000"/>
            <a:ext cx="2647920" cy="723930"/>
          </a:xfrm>
          <a:prstGeom prst="roundRect">
            <a:avLst>
              <a:gd name="adj" fmla="val 15789"/>
            </a:avLst>
          </a:prstGeom>
          <a:solidFill>
            <a:srgbClr val="F9F9F9"/>
          </a:solidFill>
          <a:ln/>
        </p:spPr>
      </p:sp>
      <p:sp>
        <p:nvSpPr>
          <p:cNvPr id="36" name="Text 33"/>
          <p:cNvSpPr/>
          <p:nvPr/>
        </p:nvSpPr>
        <p:spPr>
          <a:xfrm>
            <a:off x="5715000" y="2400300"/>
            <a:ext cx="24193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Marketing Spend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715000" y="2552730"/>
            <a:ext cx="2419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$312K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7619970" y="2409810"/>
            <a:ext cx="4762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+6.1%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8343900" y="2286000"/>
            <a:ext cx="2647920" cy="723930"/>
          </a:xfrm>
          <a:prstGeom prst="roundRect">
            <a:avLst>
              <a:gd name="adj" fmla="val 15789"/>
            </a:avLst>
          </a:prstGeom>
          <a:solidFill>
            <a:srgbClr val="F9F9F9"/>
          </a:solidFill>
          <a:ln/>
        </p:spPr>
      </p:sp>
      <p:sp>
        <p:nvSpPr>
          <p:cNvPr id="40" name="Text 37"/>
          <p:cNvSpPr/>
          <p:nvPr/>
        </p:nvSpPr>
        <p:spPr>
          <a:xfrm>
            <a:off x="8477220" y="2400300"/>
            <a:ext cx="24193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Blended CAC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477220" y="2552730"/>
            <a:ext cx="2419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$184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10382280" y="2409810"/>
            <a:ext cx="4762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94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−8.0%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819370" y="3143250"/>
            <a:ext cx="4572000" cy="2533620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971800" y="3257550"/>
            <a:ext cx="42672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Blended ROAS · last 8 weeks</a:t>
            </a:r>
            <a:endParaRPr lang="en-US" sz="90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2933670" y="3448020"/>
          <a:ext cx="4343400" cy="21145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6" name="Shape 42"/>
          <p:cNvSpPr/>
          <p:nvPr/>
        </p:nvSpPr>
        <p:spPr>
          <a:xfrm>
            <a:off x="7524780" y="3143250"/>
            <a:ext cx="3467130" cy="2533620"/>
          </a:xfrm>
          <a:prstGeom prst="roundRect">
            <a:avLst>
              <a:gd name="adj" fmla="val 4511"/>
            </a:avLst>
          </a:prstGeom>
          <a:solidFill>
            <a:srgbClr val="F9F9F9"/>
          </a:solidFill>
          <a:ln/>
        </p:spPr>
      </p:sp>
      <p:sp>
        <p:nvSpPr>
          <p:cNvPr id="47" name="Text 43"/>
          <p:cNvSpPr/>
          <p:nvPr/>
        </p:nvSpPr>
        <p:spPr>
          <a:xfrm>
            <a:off x="7658100" y="3257550"/>
            <a:ext cx="3200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CMO brief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7658100" y="3533790"/>
            <a:ext cx="57150" cy="5715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49" name="Text 45"/>
          <p:cNvSpPr/>
          <p:nvPr/>
        </p:nvSpPr>
        <p:spPr>
          <a:xfrm>
            <a:off x="7772400" y="350517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Meta CPL up 18% — creative fatigue, 25–34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7658100" y="3838560"/>
            <a:ext cx="57150" cy="57150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51" name="Text 47"/>
          <p:cNvSpPr/>
          <p:nvPr/>
        </p:nvSpPr>
        <p:spPr>
          <a:xfrm>
            <a:off x="7772400" y="381003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Reallocate $40K Search → LinkedIn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7658100" y="4143421"/>
            <a:ext cx="57150" cy="57150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53" name="Text 49"/>
          <p:cNvSpPr/>
          <p:nvPr/>
        </p:nvSpPr>
        <p:spPr>
          <a:xfrm>
            <a:off x="7772400" y="411480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visibility flat vs two competitors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1047720" y="5981730"/>
            <a:ext cx="9334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· One memory. The whole organisation. · E902 AI Labs · Seed · Confidential 2026</a:t>
            </a:r>
            <a:endParaRPr lang="en-US" sz="850" dirty="0"/>
          </a:p>
        </p:txBody>
      </p:sp>
      <p:sp>
        <p:nvSpPr>
          <p:cNvPr id="55" name="Text 51"/>
          <p:cNvSpPr/>
          <p:nvPr/>
        </p:nvSpPr>
        <p:spPr>
          <a:xfrm>
            <a:off x="10572750" y="5981730"/>
            <a:ext cx="571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5715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DEEP DIVE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34620" y="552480"/>
            <a:ext cx="609630" cy="247620"/>
          </a:xfrm>
          <a:prstGeom prst="roundRect">
            <a:avLst>
              <a:gd name="adj" fmla="val 50000"/>
            </a:avLst>
          </a:prstGeom>
          <a:solidFill>
            <a:srgbClr val="F3F3FF"/>
          </a:solidFill>
          <a:ln/>
        </p:spPr>
      </p:sp>
      <p:sp>
        <p:nvSpPr>
          <p:cNvPr id="4" name="Text 2"/>
          <p:cNvSpPr/>
          <p:nvPr/>
        </p:nvSpPr>
        <p:spPr>
          <a:xfrm>
            <a:off x="10534620" y="542971"/>
            <a:ext cx="6096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 DEV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7720" y="781080"/>
            <a:ext cx="761997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Alfred for Sales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20" y="1314450"/>
            <a:ext cx="9525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02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knows every deal — and why each one moves or stalls.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7720" y="16002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Deal history, relationship map, and pattern memory — all compounding.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47720" y="182880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9" name="Shape 7"/>
          <p:cNvSpPr/>
          <p:nvPr/>
        </p:nvSpPr>
        <p:spPr>
          <a:xfrm>
            <a:off x="1238280" y="201927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80" y="197172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AI Prospecting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38280" y="224787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Monitors website visits, LinkedIn engagement, and content downloads. Routes high-intent triggers to the right rep within minutes — with a drafted first message.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67210" y="182880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657771" y="201927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14" name="Text 12"/>
          <p:cNvSpPr/>
          <p:nvPr/>
        </p:nvSpPr>
        <p:spPr>
          <a:xfrm>
            <a:off x="4772071" y="197172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Pre-Meeting Intelligence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57771" y="224787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Before every call, generates a brief per attendee: role context, likely pain, risk flags, competitive intel, and the questions most likely to move the deal.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886700" y="182880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077170" y="201927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18" name="Text 16"/>
          <p:cNvSpPr/>
          <p:nvPr/>
        </p:nvSpPr>
        <p:spPr>
          <a:xfrm>
            <a:off x="8191470" y="197172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Pipeline Intelligence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77170" y="224787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Generates the complete weekly pipeline review before the CSO opens their laptop. Signal-based forecast — not what reps say they'll close.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47720" y="314325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21" name="Shape 19"/>
          <p:cNvSpPr/>
          <p:nvPr/>
        </p:nvSpPr>
        <p:spPr>
          <a:xfrm>
            <a:off x="1238280" y="333372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22" name="Text 20"/>
          <p:cNvSpPr/>
          <p:nvPr/>
        </p:nvSpPr>
        <p:spPr>
          <a:xfrm>
            <a:off x="1352580" y="328617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Deal Deviation Alerts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8280" y="356232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Detects dark deals and stalled opportunities automatically. Flags delivery constraint risks and quarter-end commit gaps before it's too late to act.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67210" y="314325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657771" y="333372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26" name="Text 24"/>
          <p:cNvSpPr/>
          <p:nvPr/>
        </p:nvSpPr>
        <p:spPr>
          <a:xfrm>
            <a:off x="4772071" y="328617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Rep Coaching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57771" y="356232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When a rep underperforms, generates a signal-based root cause with a specific coaching plan grounded in your own historical win/loss patterns.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86700" y="314325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29" name="Shape 27"/>
          <p:cNvSpPr/>
          <p:nvPr/>
        </p:nvSpPr>
        <p:spPr>
          <a:xfrm>
            <a:off x="8077170" y="333372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30" name="Text 28"/>
          <p:cNvSpPr/>
          <p:nvPr/>
        </p:nvSpPr>
        <p:spPr>
          <a:xfrm>
            <a:off x="8191470" y="328617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Seek Alfred — CSO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77170" y="356232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Answers any pipeline or deal question in plain language — which deals are most at risk, why a deal was really lost — with specific names and recommended actions.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47720" y="45720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PROOF OF VALUE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7720" y="4781580"/>
            <a:ext cx="24289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Signal-based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47720" y="5086350"/>
            <a:ext cx="2371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Forecast — not rep self-reporting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71921" y="4781580"/>
            <a:ext cx="24289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Day 1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571921" y="5086350"/>
            <a:ext cx="2371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Onboarding intelligence for new reps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96030" y="4781580"/>
            <a:ext cx="24289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1–2 wks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096030" y="5086350"/>
            <a:ext cx="2371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Earlier pipeline shortfall warnings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20140" y="4781580"/>
            <a:ext cx="24289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100%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620140" y="5086350"/>
            <a:ext cx="2371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Deal context preserved across handovers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47720" y="5981730"/>
            <a:ext cx="9334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· One memory. The whole organisation. · E902 AI Labs · Seed · Confidential 2026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572750" y="5981730"/>
            <a:ext cx="571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55248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· ALFRED FOR SALES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7720" y="761970"/>
            <a:ext cx="9810780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b="1" spc="-4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Alfred knows every deal — and why each one moves or stalls.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47720" y="1428750"/>
            <a:ext cx="10096530" cy="4400550"/>
          </a:xfrm>
          <a:prstGeom prst="roundRect">
            <a:avLst>
              <a:gd name="adj" fmla="val 346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2.2179967894451356e+46" dist="6.93123996701605e+45" dir="3.2651735040000005e+54">
              <a:srgbClr val="9CA3AF">
                <a:alpha val="1.6e+5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8280" y="1533540"/>
            <a:ext cx="85771" cy="85771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6" name="Shape 4"/>
          <p:cNvSpPr/>
          <p:nvPr/>
        </p:nvSpPr>
        <p:spPr>
          <a:xfrm>
            <a:off x="1390620" y="1533540"/>
            <a:ext cx="85771" cy="85771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7" name="Shape 5"/>
          <p:cNvSpPr/>
          <p:nvPr/>
        </p:nvSpPr>
        <p:spPr>
          <a:xfrm>
            <a:off x="1543050" y="1533540"/>
            <a:ext cx="85771" cy="85771"/>
          </a:xfrm>
          <a:prstGeom prst="ellipse">
            <a:avLst/>
          </a:prstGeom>
          <a:solidFill>
            <a:srgbClr val="D9D9E2"/>
          </a:solidFill>
          <a:ln/>
        </p:spPr>
      </p:sp>
      <p:sp>
        <p:nvSpPr>
          <p:cNvPr id="8" name="Text 6"/>
          <p:cNvSpPr/>
          <p:nvPr/>
        </p:nvSpPr>
        <p:spPr>
          <a:xfrm>
            <a:off x="1809780" y="1476390"/>
            <a:ext cx="85725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app.seekalfred.ai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47720" y="1714500"/>
            <a:ext cx="1009653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7030" y="1714500"/>
            <a:ext cx="0" cy="411480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pic>
        <p:nvPicPr>
          <p:cNvPr id="11" name="Image 0" descr="assets/alfred-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1866930"/>
            <a:ext cx="704820" cy="16998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238280" y="227649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13" name="Text 10"/>
          <p:cNvSpPr/>
          <p:nvPr/>
        </p:nvSpPr>
        <p:spPr>
          <a:xfrm>
            <a:off x="1428750" y="220983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Home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162020" y="2514600"/>
            <a:ext cx="1390620" cy="247620"/>
          </a:xfrm>
          <a:prstGeom prst="roundRect">
            <a:avLst>
              <a:gd name="adj" fmla="val 30761"/>
            </a:avLst>
          </a:prstGeom>
          <a:solidFill>
            <a:srgbClr val="FFF3EA"/>
          </a:solidFill>
          <a:ln/>
        </p:spPr>
      </p:sp>
      <p:sp>
        <p:nvSpPr>
          <p:cNvPr id="15" name="Shape 12"/>
          <p:cNvSpPr/>
          <p:nvPr/>
        </p:nvSpPr>
        <p:spPr>
          <a:xfrm>
            <a:off x="1238280" y="258126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FF8431"/>
          </a:solidFill>
          <a:ln/>
        </p:spPr>
      </p:sp>
      <p:sp>
        <p:nvSpPr>
          <p:cNvPr id="16" name="Text 13"/>
          <p:cNvSpPr/>
          <p:nvPr/>
        </p:nvSpPr>
        <p:spPr>
          <a:xfrm>
            <a:off x="1428750" y="251460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6A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Pipeline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238280" y="2886121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18" name="Text 15"/>
          <p:cNvSpPr/>
          <p:nvPr/>
        </p:nvSpPr>
        <p:spPr>
          <a:xfrm>
            <a:off x="1428750" y="281937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Deals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238280" y="319089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20" name="Text 17"/>
          <p:cNvSpPr/>
          <p:nvPr/>
        </p:nvSpPr>
        <p:spPr>
          <a:xfrm>
            <a:off x="1428750" y="312423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Coaching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238280" y="349566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22" name="Text 19"/>
          <p:cNvSpPr/>
          <p:nvPr/>
        </p:nvSpPr>
        <p:spPr>
          <a:xfrm>
            <a:off x="1428750" y="342900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Seek Alfred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181130" y="5200650"/>
            <a:ext cx="1352580" cy="266730"/>
          </a:xfrm>
          <a:prstGeom prst="roundRect">
            <a:avLst>
              <a:gd name="adj" fmla="val 28557"/>
            </a:avLst>
          </a:prstGeom>
          <a:solidFill>
            <a:srgbClr val="FF8431"/>
          </a:solidFill>
          <a:ln/>
        </p:spPr>
      </p:sp>
      <p:sp>
        <p:nvSpPr>
          <p:cNvPr id="24" name="Text 21"/>
          <p:cNvSpPr/>
          <p:nvPr/>
        </p:nvSpPr>
        <p:spPr>
          <a:xfrm>
            <a:off x="1276320" y="5200650"/>
            <a:ext cx="12382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Pro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200150" y="5543550"/>
            <a:ext cx="190470" cy="190470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26" name="Text 23"/>
          <p:cNvSpPr/>
          <p:nvPr/>
        </p:nvSpPr>
        <p:spPr>
          <a:xfrm>
            <a:off x="1447770" y="5543550"/>
            <a:ext cx="1143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Rahul · CSO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667030" y="2133570"/>
            <a:ext cx="847722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19370" y="1714500"/>
            <a:ext cx="65722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Pipeline Intelligence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9486900" y="1800271"/>
            <a:ext cx="1504920" cy="247620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39330" y="1800271"/>
            <a:ext cx="135258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Ask or search…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819370" y="2286000"/>
            <a:ext cx="2647920" cy="723930"/>
          </a:xfrm>
          <a:prstGeom prst="roundRect">
            <a:avLst>
              <a:gd name="adj" fmla="val 15789"/>
            </a:avLst>
          </a:prstGeom>
          <a:solidFill>
            <a:srgbClr val="F9F9F9"/>
          </a:solidFill>
          <a:ln/>
        </p:spPr>
      </p:sp>
      <p:sp>
        <p:nvSpPr>
          <p:cNvPr id="32" name="Text 29"/>
          <p:cNvSpPr/>
          <p:nvPr/>
        </p:nvSpPr>
        <p:spPr>
          <a:xfrm>
            <a:off x="2952780" y="2400300"/>
            <a:ext cx="24193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Weighted Pipeline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952780" y="2552730"/>
            <a:ext cx="2419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$4.2M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4857750" y="2409810"/>
            <a:ext cx="4762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94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+9%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581680" y="2286000"/>
            <a:ext cx="2647920" cy="723930"/>
          </a:xfrm>
          <a:prstGeom prst="roundRect">
            <a:avLst>
              <a:gd name="adj" fmla="val 15789"/>
            </a:avLst>
          </a:prstGeom>
          <a:solidFill>
            <a:srgbClr val="F9F9F9"/>
          </a:solidFill>
          <a:ln/>
        </p:spPr>
      </p:sp>
      <p:sp>
        <p:nvSpPr>
          <p:cNvPr id="36" name="Text 33"/>
          <p:cNvSpPr/>
          <p:nvPr/>
        </p:nvSpPr>
        <p:spPr>
          <a:xfrm>
            <a:off x="5715000" y="2400300"/>
            <a:ext cx="24193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Signal Forecast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715000" y="2552730"/>
            <a:ext cx="2419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$1.8M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7619970" y="2409810"/>
            <a:ext cx="4762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94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+5%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8343900" y="2286000"/>
            <a:ext cx="2647920" cy="723930"/>
          </a:xfrm>
          <a:prstGeom prst="roundRect">
            <a:avLst>
              <a:gd name="adj" fmla="val 15789"/>
            </a:avLst>
          </a:prstGeom>
          <a:solidFill>
            <a:srgbClr val="F9F9F9"/>
          </a:solidFill>
          <a:ln/>
        </p:spPr>
      </p:sp>
      <p:sp>
        <p:nvSpPr>
          <p:cNvPr id="40" name="Text 37"/>
          <p:cNvSpPr/>
          <p:nvPr/>
        </p:nvSpPr>
        <p:spPr>
          <a:xfrm>
            <a:off x="8477220" y="2400300"/>
            <a:ext cx="24193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At-risk Deals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477220" y="2552730"/>
            <a:ext cx="2419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7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10382280" y="2409810"/>
            <a:ext cx="4762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94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−2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819370" y="3143250"/>
            <a:ext cx="4572000" cy="2533620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971800" y="3257550"/>
            <a:ext cx="42672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Pipeline coverage · 8 weeks</a:t>
            </a:r>
            <a:endParaRPr lang="en-US" sz="90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2933670" y="3448020"/>
          <a:ext cx="4343400" cy="21145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6" name="Shape 42"/>
          <p:cNvSpPr/>
          <p:nvPr/>
        </p:nvSpPr>
        <p:spPr>
          <a:xfrm>
            <a:off x="7524780" y="3143250"/>
            <a:ext cx="3467130" cy="2533620"/>
          </a:xfrm>
          <a:prstGeom prst="roundRect">
            <a:avLst>
              <a:gd name="adj" fmla="val 4511"/>
            </a:avLst>
          </a:prstGeom>
          <a:solidFill>
            <a:srgbClr val="F9F9F9"/>
          </a:solidFill>
          <a:ln/>
        </p:spPr>
      </p:sp>
      <p:sp>
        <p:nvSpPr>
          <p:cNvPr id="47" name="Text 43"/>
          <p:cNvSpPr/>
          <p:nvPr/>
        </p:nvSpPr>
        <p:spPr>
          <a:xfrm>
            <a:off x="7658100" y="3257550"/>
            <a:ext cx="3200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Deal deviation alerts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7658100" y="3533790"/>
            <a:ext cx="57150" cy="5715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49" name="Text 45"/>
          <p:cNvSpPr/>
          <p:nvPr/>
        </p:nvSpPr>
        <p:spPr>
          <a:xfrm>
            <a:off x="7772400" y="350517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Acme renewal stalled 14d — exec dark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7658100" y="3838560"/>
            <a:ext cx="57150" cy="57150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51" name="Text 47"/>
          <p:cNvSpPr/>
          <p:nvPr/>
        </p:nvSpPr>
        <p:spPr>
          <a:xfrm>
            <a:off x="7772400" y="381003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Globex commit gap $220K vs quota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7658100" y="4143421"/>
            <a:ext cx="57150" cy="57150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53" name="Text 49"/>
          <p:cNvSpPr/>
          <p:nvPr/>
        </p:nvSpPr>
        <p:spPr>
          <a:xfrm>
            <a:off x="7772400" y="411480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Initech: delivery risk flagged by Ops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1047720" y="5981730"/>
            <a:ext cx="9334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· One memory. The whole organisation. · E902 AI Labs · Seed · Confidential 2026</a:t>
            </a:r>
            <a:endParaRPr lang="en-US" sz="850" dirty="0"/>
          </a:p>
        </p:txBody>
      </p:sp>
      <p:sp>
        <p:nvSpPr>
          <p:cNvPr id="55" name="Text 51"/>
          <p:cNvSpPr/>
          <p:nvPr/>
        </p:nvSpPr>
        <p:spPr>
          <a:xfrm>
            <a:off x="10572750" y="5981730"/>
            <a:ext cx="571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5715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DEEP DIVE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534620" y="552480"/>
            <a:ext cx="609630" cy="247620"/>
          </a:xfrm>
          <a:prstGeom prst="roundRect">
            <a:avLst>
              <a:gd name="adj" fmla="val 50000"/>
            </a:avLst>
          </a:prstGeom>
          <a:solidFill>
            <a:srgbClr val="F3F3FF"/>
          </a:solidFill>
          <a:ln/>
        </p:spPr>
      </p:sp>
      <p:sp>
        <p:nvSpPr>
          <p:cNvPr id="4" name="Text 2"/>
          <p:cNvSpPr/>
          <p:nvPr/>
        </p:nvSpPr>
        <p:spPr>
          <a:xfrm>
            <a:off x="10534620" y="542971"/>
            <a:ext cx="6096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 DEV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7720" y="781080"/>
            <a:ext cx="761997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Alfred for Finance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20" y="1314450"/>
            <a:ext cx="9525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02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knows the numbers — and the story behind them.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7720" y="16002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financial pattern stored. Every decision traceable.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47720" y="182880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9" name="Shape 7"/>
          <p:cNvSpPr/>
          <p:nvPr/>
        </p:nvSpPr>
        <p:spPr>
          <a:xfrm>
            <a:off x="1238280" y="201927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80" y="197172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Revenue Forecast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38280" y="224787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Confidence-weighted forecast from CRM signals, historical conversion rates, and rep bias correction — not from what reps report. Three-scenario models from real data.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67210" y="182880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657771" y="201927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14" name="Text 12"/>
          <p:cNvSpPr/>
          <p:nvPr/>
        </p:nvSpPr>
        <p:spPr>
          <a:xfrm>
            <a:off x="4772071" y="197172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Budget &amp; Spend Control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57771" y="224787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Flags department overruns before month-end with the specific cost centre, line item, and full-year projection. Sequences cuts by revenue risk, not percentage.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886700" y="182880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077170" y="201927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18" name="Text 16"/>
          <p:cNvSpPr/>
          <p:nvPr/>
        </p:nvSpPr>
        <p:spPr>
          <a:xfrm>
            <a:off x="8191470" y="197172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Cash Flow &amp; Runway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77170" y="224787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Continuously updated 30-day cash position from confirmed collections, contracted payables, and pipeline-weighted revenue. Covenant breach risk surfaces before the threshold is crossed.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47720" y="314325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21" name="Shape 19"/>
          <p:cNvSpPr/>
          <p:nvPr/>
        </p:nvSpPr>
        <p:spPr>
          <a:xfrm>
            <a:off x="1238280" y="333372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22" name="Text 20"/>
          <p:cNvSpPr/>
          <p:nvPr/>
        </p:nvSpPr>
        <p:spPr>
          <a:xfrm>
            <a:off x="1352580" y="328617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Margin &amp; Profitability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8280" y="356232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Calculates gross margin by customer including cost-to-serve, support, and discount. Identifies the specific driver of margin compression — delivery cost, discount depth, or product mix.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67210" y="314325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657771" y="333372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26" name="Text 24"/>
          <p:cNvSpPr/>
          <p:nvPr/>
        </p:nvSpPr>
        <p:spPr>
          <a:xfrm>
            <a:off x="4772071" y="328617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Working Capital Intel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57771" y="356232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Routes AR distress signals to CSO and CMO before commercial exposure deepens. Detects duplicate payment risks, early AP patterns, and unbilled revenue gaps.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86700" y="314325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29" name="Shape 27"/>
          <p:cNvSpPr/>
          <p:nvPr/>
        </p:nvSpPr>
        <p:spPr>
          <a:xfrm>
            <a:off x="8077170" y="333372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30" name="Text 28"/>
          <p:cNvSpPr/>
          <p:nvPr/>
        </p:nvSpPr>
        <p:spPr>
          <a:xfrm>
            <a:off x="8191470" y="328617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Funding &amp; Capital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77170" y="356232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Generates a funding readiness brief before a raise. Benchmarks metrics against funded peers. Scores investors by thesis alignment, portfolio conflicts, and fund cycle position.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47720" y="45720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PROOF OF VALUE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7720" y="4781580"/>
            <a:ext cx="327026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Live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47720" y="5086350"/>
            <a:ext cx="3213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30-day cash position, continuously updated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13260" y="4781580"/>
            <a:ext cx="327026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413260" y="5086350"/>
            <a:ext cx="3213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Surprises — AR distress flagged before invoice is missed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778709" y="4781580"/>
            <a:ext cx="327026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Board-ready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778709" y="5086350"/>
            <a:ext cx="32131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Financial narrative generated from live data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47720" y="5981730"/>
            <a:ext cx="9334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· One memory. The whole organisation. · E902 AI Labs · Seed · Confidential 2026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572750" y="5981730"/>
            <a:ext cx="571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55248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· ALFRED FOR FINANCE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7720" y="761970"/>
            <a:ext cx="9810780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b="1" spc="-4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Alfred knows the numbers — and the story behind them.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47720" y="1428750"/>
            <a:ext cx="10096530" cy="4400550"/>
          </a:xfrm>
          <a:prstGeom prst="roundRect">
            <a:avLst>
              <a:gd name="adj" fmla="val 346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2.816855922595322e+50" dist="8.802674758110384e+49" dir="1.9591041024000004e+59">
              <a:srgbClr val="9CA3AF">
                <a:alpha val="1.6e+5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8280" y="1533540"/>
            <a:ext cx="85771" cy="85771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6" name="Shape 4"/>
          <p:cNvSpPr/>
          <p:nvPr/>
        </p:nvSpPr>
        <p:spPr>
          <a:xfrm>
            <a:off x="1390620" y="1533540"/>
            <a:ext cx="85771" cy="85771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7" name="Shape 5"/>
          <p:cNvSpPr/>
          <p:nvPr/>
        </p:nvSpPr>
        <p:spPr>
          <a:xfrm>
            <a:off x="1543050" y="1533540"/>
            <a:ext cx="85771" cy="85771"/>
          </a:xfrm>
          <a:prstGeom prst="ellipse">
            <a:avLst/>
          </a:prstGeom>
          <a:solidFill>
            <a:srgbClr val="D9D9E2"/>
          </a:solidFill>
          <a:ln/>
        </p:spPr>
      </p:sp>
      <p:sp>
        <p:nvSpPr>
          <p:cNvPr id="8" name="Text 6"/>
          <p:cNvSpPr/>
          <p:nvPr/>
        </p:nvSpPr>
        <p:spPr>
          <a:xfrm>
            <a:off x="1809780" y="1476390"/>
            <a:ext cx="85725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app.seekalfred.ai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47720" y="1714500"/>
            <a:ext cx="1009653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7030" y="1714500"/>
            <a:ext cx="0" cy="411480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pic>
        <p:nvPicPr>
          <p:cNvPr id="11" name="Image 0" descr="assets/alfred-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1866930"/>
            <a:ext cx="704820" cy="16998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238280" y="227649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13" name="Text 10"/>
          <p:cNvSpPr/>
          <p:nvPr/>
        </p:nvSpPr>
        <p:spPr>
          <a:xfrm>
            <a:off x="1428750" y="220983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Home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162020" y="2514600"/>
            <a:ext cx="1390620" cy="247620"/>
          </a:xfrm>
          <a:prstGeom prst="roundRect">
            <a:avLst>
              <a:gd name="adj" fmla="val 30761"/>
            </a:avLst>
          </a:prstGeom>
          <a:solidFill>
            <a:srgbClr val="FFF3EA"/>
          </a:solidFill>
          <a:ln/>
        </p:spPr>
      </p:sp>
      <p:sp>
        <p:nvSpPr>
          <p:cNvPr id="15" name="Shape 12"/>
          <p:cNvSpPr/>
          <p:nvPr/>
        </p:nvSpPr>
        <p:spPr>
          <a:xfrm>
            <a:off x="1238280" y="258126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FF8431"/>
          </a:solidFill>
          <a:ln/>
        </p:spPr>
      </p:sp>
      <p:sp>
        <p:nvSpPr>
          <p:cNvPr id="16" name="Text 13"/>
          <p:cNvSpPr/>
          <p:nvPr/>
        </p:nvSpPr>
        <p:spPr>
          <a:xfrm>
            <a:off x="1428750" y="251460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6A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Forecast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238280" y="2886121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18" name="Text 15"/>
          <p:cNvSpPr/>
          <p:nvPr/>
        </p:nvSpPr>
        <p:spPr>
          <a:xfrm>
            <a:off x="1428750" y="281937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Cash &amp; Runway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238280" y="319089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20" name="Text 17"/>
          <p:cNvSpPr/>
          <p:nvPr/>
        </p:nvSpPr>
        <p:spPr>
          <a:xfrm>
            <a:off x="1428750" y="312423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Margins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238280" y="349566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22" name="Text 19"/>
          <p:cNvSpPr/>
          <p:nvPr/>
        </p:nvSpPr>
        <p:spPr>
          <a:xfrm>
            <a:off x="1428750" y="342900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Seek Alfred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181130" y="5200650"/>
            <a:ext cx="1352580" cy="266730"/>
          </a:xfrm>
          <a:prstGeom prst="roundRect">
            <a:avLst>
              <a:gd name="adj" fmla="val 28557"/>
            </a:avLst>
          </a:prstGeom>
          <a:solidFill>
            <a:srgbClr val="FF8431"/>
          </a:solidFill>
          <a:ln/>
        </p:spPr>
      </p:sp>
      <p:sp>
        <p:nvSpPr>
          <p:cNvPr id="24" name="Text 21"/>
          <p:cNvSpPr/>
          <p:nvPr/>
        </p:nvSpPr>
        <p:spPr>
          <a:xfrm>
            <a:off x="1276320" y="5200650"/>
            <a:ext cx="12382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Pro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200150" y="5543550"/>
            <a:ext cx="190470" cy="190470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26" name="Text 23"/>
          <p:cNvSpPr/>
          <p:nvPr/>
        </p:nvSpPr>
        <p:spPr>
          <a:xfrm>
            <a:off x="1447770" y="5543550"/>
            <a:ext cx="1143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Anita · CFO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667030" y="2133570"/>
            <a:ext cx="847722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19370" y="1714500"/>
            <a:ext cx="65722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Cash &amp; Forecast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9486900" y="1800271"/>
            <a:ext cx="1504920" cy="247620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39330" y="1800271"/>
            <a:ext cx="135258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Ask or search…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819370" y="2286000"/>
            <a:ext cx="2647920" cy="723930"/>
          </a:xfrm>
          <a:prstGeom prst="roundRect">
            <a:avLst>
              <a:gd name="adj" fmla="val 15789"/>
            </a:avLst>
          </a:prstGeom>
          <a:solidFill>
            <a:srgbClr val="F9F9F9"/>
          </a:solidFill>
          <a:ln/>
        </p:spPr>
      </p:sp>
      <p:sp>
        <p:nvSpPr>
          <p:cNvPr id="32" name="Text 29"/>
          <p:cNvSpPr/>
          <p:nvPr/>
        </p:nvSpPr>
        <p:spPr>
          <a:xfrm>
            <a:off x="2952780" y="2400300"/>
            <a:ext cx="24193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30-day Cash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952780" y="2552730"/>
            <a:ext cx="2419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$2.6M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4857750" y="2409810"/>
            <a:ext cx="4762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94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+4%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581680" y="2286000"/>
            <a:ext cx="2647920" cy="723930"/>
          </a:xfrm>
          <a:prstGeom prst="roundRect">
            <a:avLst>
              <a:gd name="adj" fmla="val 15789"/>
            </a:avLst>
          </a:prstGeom>
          <a:solidFill>
            <a:srgbClr val="F9F9F9"/>
          </a:solidFill>
          <a:ln/>
        </p:spPr>
      </p:sp>
      <p:sp>
        <p:nvSpPr>
          <p:cNvPr id="36" name="Text 33"/>
          <p:cNvSpPr/>
          <p:nvPr/>
        </p:nvSpPr>
        <p:spPr>
          <a:xfrm>
            <a:off x="5715000" y="2400300"/>
            <a:ext cx="24193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Runway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715000" y="2552730"/>
            <a:ext cx="2419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14 mo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7619970" y="2409810"/>
            <a:ext cx="4762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94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+1mo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8343900" y="2286000"/>
            <a:ext cx="2647920" cy="723930"/>
          </a:xfrm>
          <a:prstGeom prst="roundRect">
            <a:avLst>
              <a:gd name="adj" fmla="val 15789"/>
            </a:avLst>
          </a:prstGeom>
          <a:solidFill>
            <a:srgbClr val="F9F9F9"/>
          </a:solidFill>
          <a:ln/>
        </p:spPr>
      </p:sp>
      <p:sp>
        <p:nvSpPr>
          <p:cNvPr id="40" name="Text 37"/>
          <p:cNvSpPr/>
          <p:nvPr/>
        </p:nvSpPr>
        <p:spPr>
          <a:xfrm>
            <a:off x="8477220" y="2400300"/>
            <a:ext cx="24193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477220" y="2552730"/>
            <a:ext cx="2419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61%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10382280" y="2409810"/>
            <a:ext cx="4762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E5484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−2%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819370" y="3143250"/>
            <a:ext cx="4572000" cy="2533620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971800" y="3257550"/>
            <a:ext cx="42672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Cash position · 30 days</a:t>
            </a:r>
            <a:endParaRPr lang="en-US" sz="90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2933670" y="3448020"/>
          <a:ext cx="4343400" cy="21145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6" name="Shape 42"/>
          <p:cNvSpPr/>
          <p:nvPr/>
        </p:nvSpPr>
        <p:spPr>
          <a:xfrm>
            <a:off x="7524780" y="3143250"/>
            <a:ext cx="3467130" cy="2533620"/>
          </a:xfrm>
          <a:prstGeom prst="roundRect">
            <a:avLst>
              <a:gd name="adj" fmla="val 4511"/>
            </a:avLst>
          </a:prstGeom>
          <a:solidFill>
            <a:srgbClr val="F9F9F9"/>
          </a:solidFill>
          <a:ln/>
        </p:spPr>
      </p:sp>
      <p:sp>
        <p:nvSpPr>
          <p:cNvPr id="47" name="Text 43"/>
          <p:cNvSpPr/>
          <p:nvPr/>
        </p:nvSpPr>
        <p:spPr>
          <a:xfrm>
            <a:off x="7658100" y="3257550"/>
            <a:ext cx="3200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Finance signals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7658100" y="3533790"/>
            <a:ext cx="57150" cy="5715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49" name="Text 45"/>
          <p:cNvSpPr/>
          <p:nvPr/>
        </p:nvSpPr>
        <p:spPr>
          <a:xfrm>
            <a:off x="7772400" y="350517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 distress: Northwind 38d overdue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7658100" y="3838560"/>
            <a:ext cx="57150" cy="57150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51" name="Text 47"/>
          <p:cNvSpPr/>
          <p:nvPr/>
        </p:nvSpPr>
        <p:spPr>
          <a:xfrm>
            <a:off x="7772400" y="381003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Dept overrun: Eng +12% vs plan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7658100" y="4143421"/>
            <a:ext cx="57150" cy="57150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53" name="Text 49"/>
          <p:cNvSpPr/>
          <p:nvPr/>
        </p:nvSpPr>
        <p:spPr>
          <a:xfrm>
            <a:off x="7772400" y="411480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Covenant headroom tightening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1047720" y="5981730"/>
            <a:ext cx="9334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· One memory. The whole organisation. · E902 AI Labs · Seed · Confidential 2026</a:t>
            </a:r>
            <a:endParaRPr lang="en-US" sz="850" dirty="0"/>
          </a:p>
        </p:txBody>
      </p:sp>
      <p:sp>
        <p:nvSpPr>
          <p:cNvPr id="55" name="Text 51"/>
          <p:cNvSpPr/>
          <p:nvPr/>
        </p:nvSpPr>
        <p:spPr>
          <a:xfrm>
            <a:off x="10572750" y="5981730"/>
            <a:ext cx="571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5715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DEEP DIVE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344150" y="552480"/>
            <a:ext cx="800100" cy="247620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/>
        </p:spPr>
      </p:sp>
      <p:sp>
        <p:nvSpPr>
          <p:cNvPr id="4" name="Text 2"/>
          <p:cNvSpPr/>
          <p:nvPr/>
        </p:nvSpPr>
        <p:spPr>
          <a:xfrm>
            <a:off x="10344150" y="542971"/>
            <a:ext cx="8001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7720" y="781080"/>
            <a:ext cx="761997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Alfred for Operations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20" y="1314450"/>
            <a:ext cx="9525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02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knows the operation — and what's about to break.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7720" y="16002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Supply chain patterns, OTIF risk, and production deviations — all remembered.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47720" y="182880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9" name="Shape 7"/>
          <p:cNvSpPr/>
          <p:nvPr/>
        </p:nvSpPr>
        <p:spPr>
          <a:xfrm>
            <a:off x="1238280" y="201927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80" y="197172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Demand &amp; Supply Planning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38280" y="224787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Surfaces demand-supply gaps at 30-, 60-, and 90-day horizons. Flags systematic forecast bias before it drives inventory decisions in the wrong direction.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67210" y="182880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657771" y="201927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14" name="Text 12"/>
          <p:cNvSpPr/>
          <p:nvPr/>
        </p:nvSpPr>
        <p:spPr>
          <a:xfrm>
            <a:off x="4772071" y="197172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Inventory &amp; Stock Intel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57771" y="224787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Predicts stockout risk by SKU and site 14–30 days ahead. Identifies excess and slow-moving stock with a specific recommended action per category.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886700" y="182880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077170" y="201927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18" name="Text 16"/>
          <p:cNvSpPr/>
          <p:nvPr/>
        </p:nvSpPr>
        <p:spPr>
          <a:xfrm>
            <a:off x="8191470" y="197172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Production Planning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77170" y="224787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Tracks actual output against the production plan daily — identifying deviations before they accumulate into a period-end shortfall. Monitors OEE by asset and plant.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47720" y="314325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21" name="Shape 19"/>
          <p:cNvSpPr/>
          <p:nvPr/>
        </p:nvSpPr>
        <p:spPr>
          <a:xfrm>
            <a:off x="1238280" y="333372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22" name="Text 20"/>
          <p:cNvSpPr/>
          <p:nvPr/>
        </p:nvSpPr>
        <p:spPr>
          <a:xfrm>
            <a:off x="1352580" y="328617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Procurement &amp; Supplier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8280" y="356232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Monitors all open POs against expected delivery with production impact. Detects GRN discrepancies and quality rejections. Tracks supplier OTIF by material category.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67210" y="314325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657771" y="333372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26" name="Text 24"/>
          <p:cNvSpPr/>
          <p:nvPr/>
        </p:nvSpPr>
        <p:spPr>
          <a:xfrm>
            <a:off x="4772071" y="328617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OTIF &amp; Fulfilment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57771" y="356232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Predicts which specific orders are at risk of being late or short — before the delivery window closes. Identifies root cause and routes the fix to the correct function.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86700" y="314325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29" name="Shape 27"/>
          <p:cNvSpPr/>
          <p:nvPr/>
        </p:nvSpPr>
        <p:spPr>
          <a:xfrm>
            <a:off x="8077170" y="333372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30" name="Text 28"/>
          <p:cNvSpPr/>
          <p:nvPr/>
        </p:nvSpPr>
        <p:spPr>
          <a:xfrm>
            <a:off x="8191470" y="328617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Operational Memory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77170" y="356232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process change, its rationale, and its measured outcome — stored. Never respond to the same disruption from scratch again.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47720" y="45720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PROOF OF VALUE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7720" y="4781580"/>
            <a:ext cx="24289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14–30d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47720" y="5086350"/>
            <a:ext cx="2371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Stockout prediction ahead of the inventory gap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71921" y="4781580"/>
            <a:ext cx="24289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Order-level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571921" y="5086350"/>
            <a:ext cx="2371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OTIF risk detected before delivery window closes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96030" y="4781580"/>
            <a:ext cx="24289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Daily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096030" y="5086350"/>
            <a:ext cx="2371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Production deviation flagged — not at month-end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20140" y="4781580"/>
            <a:ext cx="24289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9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620140" y="5086350"/>
            <a:ext cx="2371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Sub-modules across the full operations cycle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47720" y="5981730"/>
            <a:ext cx="9334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· One memory. The whole organisation. · E902 AI Labs · Seed · Confidential 2026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572750" y="5981730"/>
            <a:ext cx="571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55248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· ALFRED FOR OPERATIONS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7720" y="761970"/>
            <a:ext cx="9810780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b="1" spc="-4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Alfred knows what the line can deliver, before sales makes the commitment.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47720" y="1428750"/>
            <a:ext cx="10096530" cy="4400550"/>
          </a:xfrm>
          <a:prstGeom prst="roundRect">
            <a:avLst>
              <a:gd name="adj" fmla="val 346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3.5774070216960594e+54" dist="1.1179396942800187e+54" dir="1.1754624614400003e+64">
              <a:srgbClr val="9CA3AF">
                <a:alpha val="1.5999999999999998e+6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8280" y="1533540"/>
            <a:ext cx="85771" cy="85771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6" name="Shape 4"/>
          <p:cNvSpPr/>
          <p:nvPr/>
        </p:nvSpPr>
        <p:spPr>
          <a:xfrm>
            <a:off x="1390620" y="1533540"/>
            <a:ext cx="85771" cy="85771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7" name="Shape 5"/>
          <p:cNvSpPr/>
          <p:nvPr/>
        </p:nvSpPr>
        <p:spPr>
          <a:xfrm>
            <a:off x="1543050" y="1533540"/>
            <a:ext cx="85771" cy="85771"/>
          </a:xfrm>
          <a:prstGeom prst="ellipse">
            <a:avLst/>
          </a:prstGeom>
          <a:solidFill>
            <a:srgbClr val="D9D9E2"/>
          </a:solidFill>
          <a:ln/>
        </p:spPr>
      </p:sp>
      <p:sp>
        <p:nvSpPr>
          <p:cNvPr id="8" name="Text 6"/>
          <p:cNvSpPr/>
          <p:nvPr/>
        </p:nvSpPr>
        <p:spPr>
          <a:xfrm>
            <a:off x="1809780" y="1476390"/>
            <a:ext cx="85725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app.seekalfred.ai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47720" y="1714500"/>
            <a:ext cx="1009653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7030" y="1714500"/>
            <a:ext cx="0" cy="411480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pic>
        <p:nvPicPr>
          <p:cNvPr id="11" name="Image 0" descr="assets/alfred-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1866930"/>
            <a:ext cx="704820" cy="16998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238280" y="227649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13" name="Text 10"/>
          <p:cNvSpPr/>
          <p:nvPr/>
        </p:nvSpPr>
        <p:spPr>
          <a:xfrm>
            <a:off x="1428750" y="220983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Home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162020" y="2514600"/>
            <a:ext cx="1390620" cy="247620"/>
          </a:xfrm>
          <a:prstGeom prst="roundRect">
            <a:avLst>
              <a:gd name="adj" fmla="val 30761"/>
            </a:avLst>
          </a:prstGeom>
          <a:solidFill>
            <a:srgbClr val="FFF3EA"/>
          </a:solidFill>
          <a:ln/>
        </p:spPr>
      </p:sp>
      <p:sp>
        <p:nvSpPr>
          <p:cNvPr id="15" name="Shape 12"/>
          <p:cNvSpPr/>
          <p:nvPr/>
        </p:nvSpPr>
        <p:spPr>
          <a:xfrm>
            <a:off x="1238280" y="258126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FF8431"/>
          </a:solidFill>
          <a:ln/>
        </p:spPr>
      </p:sp>
      <p:sp>
        <p:nvSpPr>
          <p:cNvPr id="16" name="Text 13"/>
          <p:cNvSpPr/>
          <p:nvPr/>
        </p:nvSpPr>
        <p:spPr>
          <a:xfrm>
            <a:off x="1428750" y="251460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6A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238280" y="2886121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18" name="Text 15"/>
          <p:cNvSpPr/>
          <p:nvPr/>
        </p:nvSpPr>
        <p:spPr>
          <a:xfrm>
            <a:off x="1428750" y="281937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Inventory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238280" y="319089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20" name="Text 17"/>
          <p:cNvSpPr/>
          <p:nvPr/>
        </p:nvSpPr>
        <p:spPr>
          <a:xfrm>
            <a:off x="1428750" y="312423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OTIF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238280" y="349566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22" name="Text 19"/>
          <p:cNvSpPr/>
          <p:nvPr/>
        </p:nvSpPr>
        <p:spPr>
          <a:xfrm>
            <a:off x="1428750" y="342900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Suppliers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181130" y="5200650"/>
            <a:ext cx="1352580" cy="266730"/>
          </a:xfrm>
          <a:prstGeom prst="roundRect">
            <a:avLst>
              <a:gd name="adj" fmla="val 28557"/>
            </a:avLst>
          </a:prstGeom>
          <a:solidFill>
            <a:srgbClr val="FF8431"/>
          </a:solidFill>
          <a:ln/>
        </p:spPr>
      </p:sp>
      <p:sp>
        <p:nvSpPr>
          <p:cNvPr id="24" name="Text 21"/>
          <p:cNvSpPr/>
          <p:nvPr/>
        </p:nvSpPr>
        <p:spPr>
          <a:xfrm>
            <a:off x="1276320" y="5200650"/>
            <a:ext cx="12382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Pro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200150" y="5543550"/>
            <a:ext cx="190470" cy="190470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26" name="Text 23"/>
          <p:cNvSpPr/>
          <p:nvPr/>
        </p:nvSpPr>
        <p:spPr>
          <a:xfrm>
            <a:off x="1447770" y="5543550"/>
            <a:ext cx="1143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Sameer · COO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667030" y="2133570"/>
            <a:ext cx="847722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19370" y="1714500"/>
            <a:ext cx="65722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Operations Control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9486900" y="1800271"/>
            <a:ext cx="1504920" cy="247620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39330" y="1800271"/>
            <a:ext cx="135258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Ask or search…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819370" y="2286000"/>
            <a:ext cx="2647920" cy="723930"/>
          </a:xfrm>
          <a:prstGeom prst="roundRect">
            <a:avLst>
              <a:gd name="adj" fmla="val 15789"/>
            </a:avLst>
          </a:prstGeom>
          <a:solidFill>
            <a:srgbClr val="F9F9F9"/>
          </a:solidFill>
          <a:ln/>
        </p:spPr>
      </p:sp>
      <p:sp>
        <p:nvSpPr>
          <p:cNvPr id="32" name="Text 29"/>
          <p:cNvSpPr/>
          <p:nvPr/>
        </p:nvSpPr>
        <p:spPr>
          <a:xfrm>
            <a:off x="2952780" y="2400300"/>
            <a:ext cx="24193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OTIF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952780" y="2552730"/>
            <a:ext cx="2419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94%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4857750" y="2409810"/>
            <a:ext cx="4762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94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+3%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581680" y="2286000"/>
            <a:ext cx="2647920" cy="723930"/>
          </a:xfrm>
          <a:prstGeom prst="roundRect">
            <a:avLst>
              <a:gd name="adj" fmla="val 15789"/>
            </a:avLst>
          </a:prstGeom>
          <a:solidFill>
            <a:srgbClr val="F9F9F9"/>
          </a:solidFill>
          <a:ln/>
        </p:spPr>
      </p:sp>
      <p:sp>
        <p:nvSpPr>
          <p:cNvPr id="36" name="Text 33"/>
          <p:cNvSpPr/>
          <p:nvPr/>
        </p:nvSpPr>
        <p:spPr>
          <a:xfrm>
            <a:off x="5715000" y="2400300"/>
            <a:ext cx="24193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Stockout Risk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715000" y="2552730"/>
            <a:ext cx="2419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 SKUs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7619970" y="2409810"/>
            <a:ext cx="4762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94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−4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8343900" y="2286000"/>
            <a:ext cx="2647920" cy="723930"/>
          </a:xfrm>
          <a:prstGeom prst="roundRect">
            <a:avLst>
              <a:gd name="adj" fmla="val 15789"/>
            </a:avLst>
          </a:prstGeom>
          <a:solidFill>
            <a:srgbClr val="F9F9F9"/>
          </a:solidFill>
          <a:ln/>
        </p:spPr>
      </p:sp>
      <p:sp>
        <p:nvSpPr>
          <p:cNvPr id="40" name="Text 37"/>
          <p:cNvSpPr/>
          <p:nvPr/>
        </p:nvSpPr>
        <p:spPr>
          <a:xfrm>
            <a:off x="8477220" y="2400300"/>
            <a:ext cx="24193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OEE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477220" y="2552730"/>
            <a:ext cx="2419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82%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10382280" y="2409810"/>
            <a:ext cx="4762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94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+1%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819370" y="3143250"/>
            <a:ext cx="4572000" cy="2533620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971800" y="3257550"/>
            <a:ext cx="42672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OTIF · last 8 weeks</a:t>
            </a:r>
            <a:endParaRPr lang="en-US" sz="90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2933670" y="3448020"/>
          <a:ext cx="4343400" cy="21145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6" name="Shape 42"/>
          <p:cNvSpPr/>
          <p:nvPr/>
        </p:nvSpPr>
        <p:spPr>
          <a:xfrm>
            <a:off x="7524780" y="3143250"/>
            <a:ext cx="3467130" cy="2533620"/>
          </a:xfrm>
          <a:prstGeom prst="roundRect">
            <a:avLst>
              <a:gd name="adj" fmla="val 4511"/>
            </a:avLst>
          </a:prstGeom>
          <a:solidFill>
            <a:srgbClr val="F9F9F9"/>
          </a:solidFill>
          <a:ln/>
        </p:spPr>
      </p:sp>
      <p:sp>
        <p:nvSpPr>
          <p:cNvPr id="47" name="Text 43"/>
          <p:cNvSpPr/>
          <p:nvPr/>
        </p:nvSpPr>
        <p:spPr>
          <a:xfrm>
            <a:off x="7658100" y="3257550"/>
            <a:ext cx="3200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Operational alerts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7658100" y="3533790"/>
            <a:ext cx="57150" cy="5715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49" name="Text 45"/>
          <p:cNvSpPr/>
          <p:nvPr/>
        </p:nvSpPr>
        <p:spPr>
          <a:xfrm>
            <a:off x="7772400" y="350517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SKU-2290 stockout risk in 18 days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7658100" y="3838560"/>
            <a:ext cx="57150" cy="57150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51" name="Text 47"/>
          <p:cNvSpPr/>
          <p:nvPr/>
        </p:nvSpPr>
        <p:spPr>
          <a:xfrm>
            <a:off x="7772400" y="381003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PO-4471 late — production impact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7658100" y="4143421"/>
            <a:ext cx="57150" cy="57150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53" name="Text 49"/>
          <p:cNvSpPr/>
          <p:nvPr/>
        </p:nvSpPr>
        <p:spPr>
          <a:xfrm>
            <a:off x="7772400" y="411480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Supplier OTIF dropped to 88%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1047720" y="5981730"/>
            <a:ext cx="9334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· One memory. The whole organisation. · E902 AI Labs · Seed · Confidential 2026</a:t>
            </a:r>
            <a:endParaRPr lang="en-US" sz="850" dirty="0"/>
          </a:p>
        </p:txBody>
      </p:sp>
      <p:sp>
        <p:nvSpPr>
          <p:cNvPr id="55" name="Text 51"/>
          <p:cNvSpPr/>
          <p:nvPr/>
        </p:nvSpPr>
        <p:spPr>
          <a:xfrm>
            <a:off x="10572750" y="5981730"/>
            <a:ext cx="571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5715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DEEP DIVE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344150" y="552480"/>
            <a:ext cx="800100" cy="247620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/>
        </p:spPr>
      </p:sp>
      <p:sp>
        <p:nvSpPr>
          <p:cNvPr id="4" name="Text 2"/>
          <p:cNvSpPr/>
          <p:nvPr/>
        </p:nvSpPr>
        <p:spPr>
          <a:xfrm>
            <a:off x="10344150" y="542971"/>
            <a:ext cx="8001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47720" y="781080"/>
            <a:ext cx="761997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Alfred for CEO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47720" y="1314450"/>
            <a:ext cx="952503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021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synthesises the whole business into what needs your attention.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47720" y="16002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Cross-functional signals, strategic context, institutional memory — in one brief.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47720" y="182880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9" name="Shape 7"/>
          <p:cNvSpPr/>
          <p:nvPr/>
        </p:nvSpPr>
        <p:spPr>
          <a:xfrm>
            <a:off x="1238280" y="201927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80" y="197172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CEO Daily Brief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38280" y="224787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morning: a ranked view of the most significant signals across every function — ordered by business impact. Filters relentlessly — the CEO only sees what genuinely requires a decision.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67210" y="182880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657771" y="201927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14" name="Text 12"/>
          <p:cNvSpPr/>
          <p:nvPr/>
        </p:nvSpPr>
        <p:spPr>
          <a:xfrm>
            <a:off x="4772071" y="197172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Strategic Intelligence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57771" y="224787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Generates market entry, M&amp;A, and annual strategy briefs grounded in company-specific operational and financial data — not generic market research.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886700" y="182880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077170" y="201927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18" name="Text 16"/>
          <p:cNvSpPr/>
          <p:nvPr/>
        </p:nvSpPr>
        <p:spPr>
          <a:xfrm>
            <a:off x="8191470" y="197172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Whole-Business Risk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77170" y="224787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Traces margin compression to its source across all functions. Translates OTIF failures and stockout predictions into revenue at risk and customer retention risk.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47720" y="314325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21" name="Shape 19"/>
          <p:cNvSpPr/>
          <p:nvPr/>
        </p:nvSpPr>
        <p:spPr>
          <a:xfrm>
            <a:off x="1238280" y="333372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22" name="Text 20"/>
          <p:cNvSpPr/>
          <p:nvPr/>
        </p:nvSpPr>
        <p:spPr>
          <a:xfrm>
            <a:off x="1352580" y="328617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Board &amp; Investor Intel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38280" y="356232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Generates the complete board narrative — performance, risks, key decisions, forward scenarios — from live company data. Tracks every investor commitment against delivery.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67210" y="314325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657771" y="333372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26" name="Text 24"/>
          <p:cNvSpPr/>
          <p:nvPr/>
        </p:nvSpPr>
        <p:spPr>
          <a:xfrm>
            <a:off x="4772071" y="328617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Organisational Memory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57771" y="356232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Retrieves the full context of any past strategic decision — what was known, what alternatives were considered, what the outcome was. A new leader gets a complete brief from day one.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86700" y="3143250"/>
            <a:ext cx="3257550" cy="1219170"/>
          </a:xfrm>
          <a:prstGeom prst="roundRect">
            <a:avLst>
              <a:gd name="adj" fmla="val 12503"/>
            </a:avLst>
          </a:prstGeom>
          <a:solidFill>
            <a:srgbClr val="F9F9F9"/>
          </a:solidFill>
          <a:ln/>
        </p:spPr>
      </p:sp>
      <p:sp>
        <p:nvSpPr>
          <p:cNvPr id="29" name="Shape 27"/>
          <p:cNvSpPr/>
          <p:nvPr/>
        </p:nvSpPr>
        <p:spPr>
          <a:xfrm>
            <a:off x="8077170" y="3333720"/>
            <a:ext cx="38130" cy="171450"/>
          </a:xfrm>
          <a:prstGeom prst="roundRect">
            <a:avLst>
              <a:gd name="adj" fmla="val 49881"/>
            </a:avLst>
          </a:prstGeom>
          <a:solidFill>
            <a:srgbClr val="FF8431"/>
          </a:solidFill>
          <a:ln/>
        </p:spPr>
      </p:sp>
      <p:sp>
        <p:nvSpPr>
          <p:cNvPr id="30" name="Text 28"/>
          <p:cNvSpPr/>
          <p:nvPr/>
        </p:nvSpPr>
        <p:spPr>
          <a:xfrm>
            <a:off x="8191470" y="3286171"/>
            <a:ext cx="27813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-1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Cross-Function Synthesis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77170" y="3562320"/>
            <a:ext cx="2895630" cy="70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Connects signals no single module can see: a supply shortfall that becomes a revenue forecast risk; AR distress that should pause a sales expansion conversation.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47720" y="45720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PROOF OF VALUE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47720" y="4781580"/>
            <a:ext cx="24289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218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47720" y="5086350"/>
            <a:ext cx="2371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cases — the broadest Alfred module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71921" y="4781580"/>
            <a:ext cx="24289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Day 1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571921" y="5086350"/>
            <a:ext cx="2371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Complete intelligence brief for any new leader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96030" y="4781580"/>
            <a:ext cx="24289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Minutes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096030" y="5086350"/>
            <a:ext cx="2371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Board pack generated from live data, not spreadsheets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20140" y="4781580"/>
            <a:ext cx="2428921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FF843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Zero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620140" y="5086350"/>
            <a:ext cx="23717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Cross-functional risks that compound unseen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47720" y="5981730"/>
            <a:ext cx="9334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· One memory. The whole organisation. · E902 AI Labs · Seed · Confidential 2026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572750" y="5981730"/>
            <a:ext cx="571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55248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PRODUCT · ALFRED FOR CEO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7720" y="761970"/>
            <a:ext cx="9810780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b="1" spc="-4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Alfred synthesises the whole business into what needs your attention.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047720" y="1428750"/>
            <a:ext cx="10096530" cy="4400550"/>
          </a:xfrm>
          <a:prstGeom prst="roundRect">
            <a:avLst>
              <a:gd name="adj" fmla="val 3464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4.5433069175539954e+58" dist="1.419783411735624e+58" dir="7.052774768640002e+68">
              <a:srgbClr val="9CA3AF">
                <a:alpha val="1.5999999999999997e+6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8280" y="1533540"/>
            <a:ext cx="85771" cy="85771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6" name="Shape 4"/>
          <p:cNvSpPr/>
          <p:nvPr/>
        </p:nvSpPr>
        <p:spPr>
          <a:xfrm>
            <a:off x="1390620" y="1533540"/>
            <a:ext cx="85771" cy="85771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7" name="Shape 5"/>
          <p:cNvSpPr/>
          <p:nvPr/>
        </p:nvSpPr>
        <p:spPr>
          <a:xfrm>
            <a:off x="1543050" y="1533540"/>
            <a:ext cx="85771" cy="85771"/>
          </a:xfrm>
          <a:prstGeom prst="ellipse">
            <a:avLst/>
          </a:prstGeom>
          <a:solidFill>
            <a:srgbClr val="D9D9E2"/>
          </a:solidFill>
          <a:ln/>
        </p:spPr>
      </p:sp>
      <p:sp>
        <p:nvSpPr>
          <p:cNvPr id="8" name="Text 6"/>
          <p:cNvSpPr/>
          <p:nvPr/>
        </p:nvSpPr>
        <p:spPr>
          <a:xfrm>
            <a:off x="1809780" y="1476390"/>
            <a:ext cx="85725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app.seekalfred.ai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047720" y="1714500"/>
            <a:ext cx="1009653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67030" y="1714500"/>
            <a:ext cx="0" cy="411480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pic>
        <p:nvPicPr>
          <p:cNvPr id="11" name="Image 0" descr="assets/alfred-logo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170" y="1866930"/>
            <a:ext cx="704820" cy="16998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162020" y="2209830"/>
            <a:ext cx="1390620" cy="247620"/>
          </a:xfrm>
          <a:prstGeom prst="roundRect">
            <a:avLst>
              <a:gd name="adj" fmla="val 30761"/>
            </a:avLst>
          </a:prstGeom>
          <a:solidFill>
            <a:srgbClr val="FFF3EA"/>
          </a:solidFill>
          <a:ln/>
        </p:spPr>
      </p:sp>
      <p:sp>
        <p:nvSpPr>
          <p:cNvPr id="13" name="Shape 10"/>
          <p:cNvSpPr/>
          <p:nvPr/>
        </p:nvSpPr>
        <p:spPr>
          <a:xfrm>
            <a:off x="1238280" y="227649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FF8431"/>
          </a:solidFill>
          <a:ln/>
        </p:spPr>
      </p:sp>
      <p:sp>
        <p:nvSpPr>
          <p:cNvPr id="14" name="Text 11"/>
          <p:cNvSpPr/>
          <p:nvPr/>
        </p:nvSpPr>
        <p:spPr>
          <a:xfrm>
            <a:off x="1428750" y="220983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26A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Brief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238280" y="258126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16" name="Text 13"/>
          <p:cNvSpPr/>
          <p:nvPr/>
        </p:nvSpPr>
        <p:spPr>
          <a:xfrm>
            <a:off x="1428750" y="251460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Strategy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238280" y="2886121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18" name="Text 15"/>
          <p:cNvSpPr/>
          <p:nvPr/>
        </p:nvSpPr>
        <p:spPr>
          <a:xfrm>
            <a:off x="1428750" y="281937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Risk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238280" y="319089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20" name="Text 17"/>
          <p:cNvSpPr/>
          <p:nvPr/>
        </p:nvSpPr>
        <p:spPr>
          <a:xfrm>
            <a:off x="1428750" y="312423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Board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1238280" y="3495660"/>
            <a:ext cx="114300" cy="114300"/>
          </a:xfrm>
          <a:prstGeom prst="roundRect">
            <a:avLst>
              <a:gd name="adj" fmla="val 25040"/>
            </a:avLst>
          </a:prstGeom>
          <a:solidFill>
            <a:srgbClr val="C7C7D2"/>
          </a:solidFill>
          <a:ln/>
        </p:spPr>
      </p:sp>
      <p:sp>
        <p:nvSpPr>
          <p:cNvPr id="22" name="Text 19"/>
          <p:cNvSpPr/>
          <p:nvPr/>
        </p:nvSpPr>
        <p:spPr>
          <a:xfrm>
            <a:off x="1428750" y="3429000"/>
            <a:ext cx="114300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Seek Alfred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181130" y="5200650"/>
            <a:ext cx="1352580" cy="266730"/>
          </a:xfrm>
          <a:prstGeom prst="roundRect">
            <a:avLst>
              <a:gd name="adj" fmla="val 28557"/>
            </a:avLst>
          </a:prstGeom>
          <a:solidFill>
            <a:srgbClr val="FF8431"/>
          </a:solidFill>
          <a:ln/>
        </p:spPr>
      </p:sp>
      <p:sp>
        <p:nvSpPr>
          <p:cNvPr id="24" name="Text 21"/>
          <p:cNvSpPr/>
          <p:nvPr/>
        </p:nvSpPr>
        <p:spPr>
          <a:xfrm>
            <a:off x="1276320" y="5200650"/>
            <a:ext cx="12382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Pro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200150" y="5543550"/>
            <a:ext cx="190470" cy="190470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26" name="Text 23"/>
          <p:cNvSpPr/>
          <p:nvPr/>
        </p:nvSpPr>
        <p:spPr>
          <a:xfrm>
            <a:off x="1447770" y="5543550"/>
            <a:ext cx="114300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Founder · CEO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667030" y="2133570"/>
            <a:ext cx="847722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819370" y="1714500"/>
            <a:ext cx="65722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CEO Daily Brief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9486900" y="1800271"/>
            <a:ext cx="1504920" cy="247620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639330" y="1800271"/>
            <a:ext cx="1352580" cy="247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Ask or search…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819370" y="2286000"/>
            <a:ext cx="2647920" cy="723930"/>
          </a:xfrm>
          <a:prstGeom prst="roundRect">
            <a:avLst>
              <a:gd name="adj" fmla="val 15789"/>
            </a:avLst>
          </a:prstGeom>
          <a:solidFill>
            <a:srgbClr val="F9F9F9"/>
          </a:solidFill>
          <a:ln/>
        </p:spPr>
      </p:sp>
      <p:sp>
        <p:nvSpPr>
          <p:cNvPr id="32" name="Text 29"/>
          <p:cNvSpPr/>
          <p:nvPr/>
        </p:nvSpPr>
        <p:spPr>
          <a:xfrm>
            <a:off x="2952780" y="2400300"/>
            <a:ext cx="24193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Revenue QTD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2952780" y="2552730"/>
            <a:ext cx="2419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$5.1M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4857750" y="2409810"/>
            <a:ext cx="4762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94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+8%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581680" y="2286000"/>
            <a:ext cx="2647920" cy="723930"/>
          </a:xfrm>
          <a:prstGeom prst="roundRect">
            <a:avLst>
              <a:gd name="adj" fmla="val 15789"/>
            </a:avLst>
          </a:prstGeom>
          <a:solidFill>
            <a:srgbClr val="F9F9F9"/>
          </a:solidFill>
          <a:ln/>
        </p:spPr>
      </p:sp>
      <p:sp>
        <p:nvSpPr>
          <p:cNvPr id="36" name="Text 33"/>
          <p:cNvSpPr/>
          <p:nvPr/>
        </p:nvSpPr>
        <p:spPr>
          <a:xfrm>
            <a:off x="5715000" y="2400300"/>
            <a:ext cx="24193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Risk Signals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715000" y="2552730"/>
            <a:ext cx="2419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7619970" y="2409810"/>
            <a:ext cx="4762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946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−1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8343900" y="2286000"/>
            <a:ext cx="2647920" cy="723930"/>
          </a:xfrm>
          <a:prstGeom prst="roundRect">
            <a:avLst>
              <a:gd name="adj" fmla="val 15789"/>
            </a:avLst>
          </a:prstGeom>
          <a:solidFill>
            <a:srgbClr val="F9F9F9"/>
          </a:solidFill>
          <a:ln/>
        </p:spPr>
      </p:sp>
      <p:sp>
        <p:nvSpPr>
          <p:cNvPr id="40" name="Text 37"/>
          <p:cNvSpPr/>
          <p:nvPr/>
        </p:nvSpPr>
        <p:spPr>
          <a:xfrm>
            <a:off x="8477220" y="2400300"/>
            <a:ext cx="24193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Cash Runway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477220" y="2552730"/>
            <a:ext cx="24193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-5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14 mo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10382280" y="2409810"/>
            <a:ext cx="476220" cy="15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flat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819370" y="3143250"/>
            <a:ext cx="4572000" cy="2533620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971800" y="3257550"/>
            <a:ext cx="42672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Business momentum · 8 weeks</a:t>
            </a:r>
            <a:endParaRPr lang="en-US" sz="900" dirty="0"/>
          </a:p>
        </p:txBody>
      </p:sp>
      <p:graphicFrame>
        <p:nvGraphicFramePr>
          <p:cNvPr id="45" name="Chart 0" descr=""/>
          <p:cNvGraphicFramePr/>
          <p:nvPr/>
        </p:nvGraphicFramePr>
        <p:xfrm>
          <a:off x="2933670" y="3448020"/>
          <a:ext cx="4343400" cy="21145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6" name="Shape 42"/>
          <p:cNvSpPr/>
          <p:nvPr/>
        </p:nvSpPr>
        <p:spPr>
          <a:xfrm>
            <a:off x="7524780" y="3143250"/>
            <a:ext cx="3467130" cy="2533620"/>
          </a:xfrm>
          <a:prstGeom prst="roundRect">
            <a:avLst>
              <a:gd name="adj" fmla="val 4511"/>
            </a:avLst>
          </a:prstGeom>
          <a:solidFill>
            <a:srgbClr val="F9F9F9"/>
          </a:solidFill>
          <a:ln/>
        </p:spPr>
      </p:sp>
      <p:sp>
        <p:nvSpPr>
          <p:cNvPr id="47" name="Text 43"/>
          <p:cNvSpPr/>
          <p:nvPr/>
        </p:nvSpPr>
        <p:spPr>
          <a:xfrm>
            <a:off x="7658100" y="3257550"/>
            <a:ext cx="3200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needs you today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7658100" y="3533790"/>
            <a:ext cx="57150" cy="57150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49" name="Text 45"/>
          <p:cNvSpPr/>
          <p:nvPr/>
        </p:nvSpPr>
        <p:spPr>
          <a:xfrm>
            <a:off x="7772400" y="350517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Supply shortfall → Q3 revenue risk</a:t>
            </a:r>
            <a:endParaRPr lang="en-US" sz="800" dirty="0"/>
          </a:p>
        </p:txBody>
      </p:sp>
      <p:sp>
        <p:nvSpPr>
          <p:cNvPr id="50" name="Shape 46"/>
          <p:cNvSpPr/>
          <p:nvPr/>
        </p:nvSpPr>
        <p:spPr>
          <a:xfrm>
            <a:off x="7658100" y="3838560"/>
            <a:ext cx="57150" cy="57150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51" name="Text 47"/>
          <p:cNvSpPr/>
          <p:nvPr/>
        </p:nvSpPr>
        <p:spPr>
          <a:xfrm>
            <a:off x="7772400" y="381003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 distress should pause Acme expansion</a:t>
            </a:r>
            <a:endParaRPr lang="en-US" sz="800" dirty="0"/>
          </a:p>
        </p:txBody>
      </p:sp>
      <p:sp>
        <p:nvSpPr>
          <p:cNvPr id="52" name="Shape 48"/>
          <p:cNvSpPr/>
          <p:nvPr/>
        </p:nvSpPr>
        <p:spPr>
          <a:xfrm>
            <a:off x="7658100" y="4143421"/>
            <a:ext cx="57150" cy="57150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53" name="Text 49"/>
          <p:cNvSpPr/>
          <p:nvPr/>
        </p:nvSpPr>
        <p:spPr>
          <a:xfrm>
            <a:off x="7772400" y="4114800"/>
            <a:ext cx="3086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Board pack ready — 2 decisions to review</a:t>
            </a:r>
            <a:endParaRPr lang="en-US" sz="800" dirty="0"/>
          </a:p>
        </p:txBody>
      </p:sp>
      <p:sp>
        <p:nvSpPr>
          <p:cNvPr id="54" name="Text 50"/>
          <p:cNvSpPr/>
          <p:nvPr/>
        </p:nvSpPr>
        <p:spPr>
          <a:xfrm>
            <a:off x="1047720" y="5981730"/>
            <a:ext cx="9334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· One memory. The whole organisation. · E902 AI Labs · Seed · Confidential 2026</a:t>
            </a:r>
            <a:endParaRPr lang="en-US" sz="850" dirty="0"/>
          </a:p>
        </p:txBody>
      </p:sp>
      <p:sp>
        <p:nvSpPr>
          <p:cNvPr id="55" name="Text 51"/>
          <p:cNvSpPr/>
          <p:nvPr/>
        </p:nvSpPr>
        <p:spPr>
          <a:xfrm>
            <a:off x="10572750" y="5981730"/>
            <a:ext cx="571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95253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7720" y="1200150"/>
            <a:ext cx="9620220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spc="-7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Each category leads on something different.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47720" y="2152680"/>
            <a:ext cx="10096530" cy="3429000"/>
          </a:xfrm>
          <a:prstGeom prst="roundRect">
            <a:avLst>
              <a:gd name="adj" fmla="val 4445"/>
            </a:avLst>
          </a:prstGeom>
          <a:solidFill>
            <a:srgbClr val="FFFFFF"/>
          </a:solidFill>
          <a:ln w="12700">
            <a:solidFill>
              <a:srgbClr val="E6E6E6"/>
            </a:solidFill>
            <a:prstDash val="solid"/>
          </a:ln>
          <a:effectLst>
            <a:outerShdw sx="100000" sy="100000" kx="0" ky="0" algn="bl" rotWithShape="0" blurRad="5.769999785293575e+62" dist="1.8031249329042424e+62" dir="4.2316648611840007e+73">
              <a:srgbClr val="9CA3AF">
                <a:alpha val="1.5999999999999997e+7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7300" y="2266980"/>
            <a:ext cx="85771" cy="85771"/>
          </a:xfrm>
          <a:prstGeom prst="ellipse">
            <a:avLst/>
          </a:prstGeom>
          <a:solidFill>
            <a:srgbClr val="FF8431"/>
          </a:solidFill>
          <a:ln/>
        </p:spPr>
      </p:sp>
      <p:sp>
        <p:nvSpPr>
          <p:cNvPr id="6" name="Shape 4"/>
          <p:cNvSpPr/>
          <p:nvPr/>
        </p:nvSpPr>
        <p:spPr>
          <a:xfrm>
            <a:off x="1409730" y="2266980"/>
            <a:ext cx="85771" cy="85771"/>
          </a:xfrm>
          <a:prstGeom prst="ellipse">
            <a:avLst/>
          </a:prstGeom>
          <a:solidFill>
            <a:srgbClr val="A7A7FC"/>
          </a:solidFill>
          <a:ln/>
        </p:spPr>
      </p:sp>
      <p:sp>
        <p:nvSpPr>
          <p:cNvPr id="7" name="Shape 5"/>
          <p:cNvSpPr/>
          <p:nvPr/>
        </p:nvSpPr>
        <p:spPr>
          <a:xfrm>
            <a:off x="1562070" y="2266980"/>
            <a:ext cx="85771" cy="85771"/>
          </a:xfrm>
          <a:prstGeom prst="ellipse">
            <a:avLst/>
          </a:prstGeom>
          <a:solidFill>
            <a:srgbClr val="D9D9E2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20" y="2438430"/>
            <a:ext cx="1009653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720" y="3867180"/>
            <a:ext cx="10096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Competitive landscape — drop the category map here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7720" y="5981730"/>
            <a:ext cx="9334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· One memory. The whole organisation. · E902 AI Labs · Seed · Confidential 2026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72750" y="5981730"/>
            <a:ext cx="571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87627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7720" y="1104870"/>
            <a:ext cx="100965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spc="-6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bottleneck just moved to memory.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47720" y="1695480"/>
            <a:ext cx="9525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enterprise wants AI in its operations, and most don't know how.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47720" y="2133570"/>
            <a:ext cx="2381280" cy="2438430"/>
          </a:xfrm>
          <a:prstGeom prst="roundRect">
            <a:avLst>
              <a:gd name="adj" fmla="val 9600"/>
            </a:avLst>
          </a:prstGeom>
          <a:solidFill>
            <a:srgbClr val="F9F9F9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343150"/>
            <a:ext cx="200025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DEMAND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57300" y="2647920"/>
            <a:ext cx="2000250" cy="173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mandate is universal. Companies are pouring budget into embedding AI — and the spending isn't slowing, even as pilots fail.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19470" y="2133570"/>
            <a:ext cx="2381280" cy="2438430"/>
          </a:xfrm>
          <a:prstGeom prst="roundRect">
            <a:avLst>
              <a:gd name="adj" fmla="val 9600"/>
            </a:avLst>
          </a:prstGeom>
          <a:solidFill>
            <a:srgbClr val="F9F9F9"/>
          </a:solidFill>
          <a:ln/>
        </p:spPr>
      </p:sp>
      <p:sp>
        <p:nvSpPr>
          <p:cNvPr id="9" name="Text 7"/>
          <p:cNvSpPr/>
          <p:nvPr/>
        </p:nvSpPr>
        <p:spPr>
          <a:xfrm>
            <a:off x="3829050" y="2343150"/>
            <a:ext cx="200025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VERDICT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29050" y="2647920"/>
            <a:ext cx="2000250" cy="173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Memory-less AI doesn't pay back. MIT named the cause the “learning gap” — tools that never learn the organisation.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1220" y="2133570"/>
            <a:ext cx="2381280" cy="2438430"/>
          </a:xfrm>
          <a:prstGeom prst="roundRect">
            <a:avLst>
              <a:gd name="adj" fmla="val 9600"/>
            </a:avLst>
          </a:prstGeom>
          <a:solidFill>
            <a:srgbClr val="F9F9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343150"/>
            <a:ext cx="200025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BLIND SPOT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2647920"/>
            <a:ext cx="2000250" cy="173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budget is there — but most leaders don't know which AI use cases are relevant to them. Spend without direction is why the pilots stall.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62970" y="2133570"/>
            <a:ext cx="2381280" cy="2438430"/>
          </a:xfrm>
          <a:prstGeom prst="roundRect">
            <a:avLst>
              <a:gd name="adj" fmla="val 9600"/>
            </a:avLst>
          </a:prstGeom>
          <a:solidFill>
            <a:srgbClr val="F9F9F9"/>
          </a:solidFill>
          <a:ln/>
        </p:spPr>
      </p:sp>
      <p:sp>
        <p:nvSpPr>
          <p:cNvPr id="15" name="Text 13"/>
          <p:cNvSpPr/>
          <p:nvPr/>
        </p:nvSpPr>
        <p:spPr>
          <a:xfrm>
            <a:off x="8972550" y="2343150"/>
            <a:ext cx="200025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UNLOCK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72550" y="2647920"/>
            <a:ext cx="2000250" cy="173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100" dirty="0">
                <a:solidFill>
                  <a:srgbClr val="32323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context layer used to be built by hand — analysts curating semantic models and knowledge graphs over months. In 2026, AI builds and maintains it automatically. The work is finally automatable — and that's Alfred.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47720" y="5981730"/>
            <a:ext cx="9334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" kern="0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Alfred AI · One memory. The whole organisation. · E902 AI Labs · Seed · Confidential 2026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572750" y="5981730"/>
            <a:ext cx="57150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20" y="1600200"/>
            <a:ext cx="952503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60" kern="0" dirty="0">
                <a:solidFill>
                  <a:srgbClr val="7B7B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MEMORY CLOCK IS ALREADY RUNNING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7720" y="1904970"/>
            <a:ext cx="9620220" cy="161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800" b="1" spc="-7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Every day without Alfred, the org resets.</a:t>
            </a:r>
            <a:endParaRPr lang="en-US" sz="3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800" b="1" spc="-70" kern="0" dirty="0">
                <a:solidFill>
                  <a:srgbClr val="02021E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Every day with Alfred, it compounds.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047720" y="3543300"/>
            <a:ext cx="7239030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50505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gap between those two trajectories is the opportunity. The C-Suite has two jobs. Alfred AI handles everything else.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47720" y="4400550"/>
            <a:ext cx="3047970" cy="476220"/>
          </a:xfrm>
          <a:prstGeom prst="roundRect">
            <a:avLst>
              <a:gd name="adj" fmla="val 50000"/>
            </a:avLst>
          </a:prstGeom>
          <a:solidFill>
            <a:srgbClr val="FF8431"/>
          </a:solidFill>
          <a:ln/>
          <a:effectLst>
            <a:outerShdw sx="100000" sy="100000" kx="0" ky="0" algn="bl" rotWithShape="0" blurRad="177800" dist="50800" dir="5400000">
              <a:srgbClr val="FF8431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47720" y="4400550"/>
            <a:ext cx="3047970" cy="47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shitanshu@e902.ai   ·   anand@e902.ai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7720" y="5143500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7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E902 AI Labs Private Limited · Confidential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E902 AI Labs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Alfred AI — Solutions Deck</dc:title>
  <dc:subject>PptxGenJS Presentation</dc:subject>
  <dc:creator>E902 AI Labs</dc:creator>
  <cp:lastModifiedBy>E902 AI Labs</cp:lastModifiedBy>
  <cp:revision>1</cp:revision>
  <dcterms:created xsi:type="dcterms:W3CDTF">2026-06-26T09:12:05Z</dcterms:created>
  <dcterms:modified xsi:type="dcterms:W3CDTF">2026-06-26T09:12:05Z</dcterms:modified>
</cp:coreProperties>
</file>