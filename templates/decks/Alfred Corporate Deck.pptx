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47720" y="186693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DECISION INTELLIGENCE PLATFORM</a:t>
            </a:r>
            <a:endParaRPr lang="en-US" sz="1100" dirty="0"/>
          </a:p>
        </p:txBody>
      </p:sp>
      <p:sp>
        <p:nvSpPr>
          <p:cNvPr id="3" name="Text 1"/>
          <p:cNvSpPr/>
          <p:nvPr/>
        </p:nvSpPr>
        <p:spPr>
          <a:xfrm>
            <a:off x="1047720" y="2190720"/>
            <a:ext cx="9620220" cy="2381280"/>
          </a:xfrm>
          <a:prstGeom prst="rect">
            <a:avLst/>
          </a:prstGeom>
          <a:noFill/>
          <a:ln/>
        </p:spPr>
        <p:txBody>
          <a:bodyPr wrap="square" lIns="0" tIns="0" rIns="0" bIns="0" rtlCol="0" anchor="t"/>
          <a:lstStyle/>
          <a:p>
            <a:pPr algn="l" indent="0" marL="0">
              <a:lnSpc>
                <a:spcPct val="99000"/>
              </a:lnSpc>
              <a:buNone/>
            </a:pPr>
            <a:r>
              <a:rPr lang="en-US" sz="5200" b="1" spc="-100" kern="0" dirty="0">
                <a:solidFill>
                  <a:srgbClr val="FF8431"/>
                </a:solidFill>
                <a:latin typeface="Bricolage Grotesque" pitchFamily="34" charset="0"/>
                <a:ea typeface="Bricolage Grotesque" pitchFamily="34" charset="-122"/>
                <a:cs typeface="Bricolage Grotesque" pitchFamily="34" charset="-120"/>
              </a:rPr>
              <a:t>The AI memory for the whole organisation.</a:t>
            </a:r>
            <a:endParaRPr lang="en-US" sz="5200" dirty="0"/>
          </a:p>
        </p:txBody>
      </p:sp>
      <p:sp>
        <p:nvSpPr>
          <p:cNvPr id="4" name="Shape 2"/>
          <p:cNvSpPr/>
          <p:nvPr/>
        </p:nvSpPr>
        <p:spPr>
          <a:xfrm>
            <a:off x="1047720" y="4514850"/>
            <a:ext cx="914400" cy="38130"/>
          </a:xfrm>
          <a:prstGeom prst="roundRect">
            <a:avLst>
              <a:gd name="adj" fmla="val 49881"/>
            </a:avLst>
          </a:prstGeom>
          <a:solidFill>
            <a:srgbClr val="FF8431"/>
          </a:solidFill>
          <a:ln/>
        </p:spPr>
      </p:sp>
      <p:sp>
        <p:nvSpPr>
          <p:cNvPr id="5" name="Text 3"/>
          <p:cNvSpPr/>
          <p:nvPr/>
        </p:nvSpPr>
        <p:spPr>
          <a:xfrm>
            <a:off x="1047720" y="4819620"/>
            <a:ext cx="8191470" cy="666780"/>
          </a:xfrm>
          <a:prstGeom prst="rect">
            <a:avLst/>
          </a:prstGeom>
          <a:noFill/>
          <a:ln/>
        </p:spPr>
        <p:txBody>
          <a:bodyPr wrap="square" lIns="0" tIns="0" rIns="0" bIns="0" rtlCol="0" anchor="t"/>
          <a:lstStyle/>
          <a:p>
            <a:pPr algn="l" indent="0" marL="0">
              <a:lnSpc>
                <a:spcPct val="140000"/>
              </a:lnSpc>
              <a:buNone/>
            </a:pPr>
            <a:r>
              <a:rPr lang="en-US" sz="1600" dirty="0">
                <a:solidFill>
                  <a:srgbClr val="505050"/>
                </a:solidFill>
                <a:latin typeface="Plus Jakarta Sans" pitchFamily="34" charset="0"/>
                <a:ea typeface="Plus Jakarta Sans" pitchFamily="34" charset="-122"/>
                <a:cs typeface="Plus Jakarta Sans" pitchFamily="34" charset="-120"/>
              </a:rPr>
              <a:t>Decision intelligence for every leader, every function — one platform.</a:t>
            </a:r>
            <a:endParaRPr lang="en-US" sz="1600" dirty="0"/>
          </a:p>
        </p:txBody>
      </p:sp>
      <p:pic>
        <p:nvPicPr>
          <p:cNvPr id="6" name="Image 0" descr="assets/alfred-logo-color.png">    </p:cNvPr>
          <p:cNvPicPr>
            <a:picLocks noChangeAspect="1"/>
          </p:cNvPicPr>
          <p:nvPr/>
        </p:nvPicPr>
        <p:blipFill>
          <a:blip r:embed="rId2"/>
          <a:stretch>
            <a:fillRect/>
          </a:stretch>
        </p:blipFill>
        <p:spPr>
          <a:xfrm>
            <a:off x="1047720" y="5903915"/>
            <a:ext cx="1428750" cy="344454"/>
          </a:xfrm>
          <a:prstGeom prst="rect">
            <a:avLst/>
          </a:prstGeom>
        </p:spPr>
      </p:pic>
      <p:sp>
        <p:nvSpPr>
          <p:cNvPr id="7" name="Text 4"/>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THE PROBLEM</a:t>
            </a:r>
            <a:endParaRPr lang="en-US" sz="1100" dirty="0"/>
          </a:p>
        </p:txBody>
      </p:sp>
      <p:sp>
        <p:nvSpPr>
          <p:cNvPr id="3" name="Text 1"/>
          <p:cNvSpPr/>
          <p:nvPr/>
        </p:nvSpPr>
        <p:spPr>
          <a:xfrm>
            <a:off x="1047720" y="1123980"/>
            <a:ext cx="5715000" cy="1428750"/>
          </a:xfrm>
          <a:prstGeom prst="rect">
            <a:avLst/>
          </a:prstGeom>
          <a:noFill/>
          <a:ln/>
        </p:spPr>
        <p:txBody>
          <a:bodyPr wrap="square" lIns="0" tIns="0" rIns="0" bIns="0" rtlCol="0" anchor="t"/>
          <a:lstStyle/>
          <a:p>
            <a:pPr algn="l" indent="0" marL="0">
              <a:lnSpc>
                <a:spcPct val="106000"/>
              </a:lnSpc>
              <a:buNone/>
            </a:pPr>
            <a:r>
              <a:rPr lang="en-US" sz="2900" b="1" spc="-50" kern="0" dirty="0">
                <a:solidFill>
                  <a:srgbClr val="02021E"/>
                </a:solidFill>
                <a:latin typeface="Bricolage Grotesque" pitchFamily="34" charset="0"/>
                <a:ea typeface="Bricolage Grotesque" pitchFamily="34" charset="-122"/>
                <a:cs typeface="Bricolage Grotesque" pitchFamily="34" charset="-120"/>
              </a:rPr>
              <a:t>Every function is drowning in data and starving for insight.</a:t>
            </a:r>
            <a:endParaRPr lang="en-US" sz="2900" dirty="0"/>
          </a:p>
        </p:txBody>
      </p:sp>
      <p:sp>
        <p:nvSpPr>
          <p:cNvPr id="4" name="Text 2"/>
          <p:cNvSpPr/>
          <p:nvPr/>
        </p:nvSpPr>
        <p:spPr>
          <a:xfrm>
            <a:off x="1047720" y="2495580"/>
            <a:ext cx="5715000" cy="1238280"/>
          </a:xfrm>
          <a:prstGeom prst="rect">
            <a:avLst/>
          </a:prstGeom>
          <a:noFill/>
          <a:ln/>
        </p:spPr>
        <p:txBody>
          <a:bodyPr wrap="square" lIns="0" tIns="0" rIns="0" bIns="0" rtlCol="0" anchor="t"/>
          <a:lstStyle/>
          <a:p>
            <a:pPr algn="l" indent="0" marL="0">
              <a:lnSpc>
                <a:spcPct val="145000"/>
              </a:lnSpc>
              <a:buNone/>
            </a:pPr>
            <a:r>
              <a:rPr lang="en-US" sz="1250" dirty="0">
                <a:solidFill>
                  <a:srgbClr val="505050"/>
                </a:solidFill>
                <a:latin typeface="Plus Jakarta Sans" pitchFamily="34" charset="0"/>
                <a:ea typeface="Plus Jakarta Sans" pitchFamily="34" charset="-122"/>
                <a:cs typeface="Plus Jakarta Sans" pitchFamily="34" charset="-120"/>
              </a:rPr>
              <a:t>The marketing leader runs ten tools to measure ROI. The finance leader runs ten more to close the books. The sales leader is stitching together a CRM, a calendar, and a spreadsheet just to know what's actually happening in the pipeline.</a:t>
            </a:r>
            <a:endParaRPr lang="en-US" sz="1250" dirty="0"/>
          </a:p>
        </p:txBody>
      </p:sp>
      <p:sp>
        <p:nvSpPr>
          <p:cNvPr id="5" name="Text 3"/>
          <p:cNvSpPr/>
          <p:nvPr/>
        </p:nvSpPr>
        <p:spPr>
          <a:xfrm>
            <a:off x="1047720" y="3733770"/>
            <a:ext cx="5715000" cy="857250"/>
          </a:xfrm>
          <a:prstGeom prst="rect">
            <a:avLst/>
          </a:prstGeom>
          <a:noFill/>
          <a:ln/>
        </p:spPr>
        <p:txBody>
          <a:bodyPr wrap="square" lIns="0" tIns="0" rIns="0" bIns="0" rtlCol="0" anchor="t"/>
          <a:lstStyle/>
          <a:p>
            <a:pPr algn="l" indent="0" marL="0">
              <a:lnSpc>
                <a:spcPct val="145000"/>
              </a:lnSpc>
              <a:buNone/>
            </a:pPr>
            <a:r>
              <a:rPr lang="en-US" sz="1250" dirty="0">
                <a:solidFill>
                  <a:srgbClr val="505050"/>
                </a:solidFill>
                <a:latin typeface="Plus Jakarta Sans" pitchFamily="34" charset="0"/>
                <a:ea typeface="Plus Jakarta Sans" pitchFamily="34" charset="-122"/>
                <a:cs typeface="Plus Jakarta Sans" pitchFamily="34" charset="-120"/>
              </a:rPr>
              <a:t>None of these systems talk to each other in plain language. Each one shows its own slice of the truth, and no one owns the full picture.</a:t>
            </a:r>
            <a:endParaRPr lang="en-US" sz="1250" dirty="0"/>
          </a:p>
        </p:txBody>
      </p:sp>
      <p:sp>
        <p:nvSpPr>
          <p:cNvPr id="6" name="Text 4"/>
          <p:cNvSpPr/>
          <p:nvPr/>
        </p:nvSpPr>
        <p:spPr>
          <a:xfrm>
            <a:off x="1047720" y="4629150"/>
            <a:ext cx="5715000" cy="476220"/>
          </a:xfrm>
          <a:prstGeom prst="rect">
            <a:avLst/>
          </a:prstGeom>
          <a:noFill/>
          <a:ln/>
        </p:spPr>
        <p:txBody>
          <a:bodyPr wrap="square" lIns="0" tIns="0" rIns="0" bIns="0" rtlCol="0" anchor="t"/>
          <a:lstStyle/>
          <a:p>
            <a:pPr algn="l" indent="0" marL="0">
              <a:lnSpc>
                <a:spcPct val="140000"/>
              </a:lnSpc>
              <a:buNone/>
            </a:pPr>
            <a:r>
              <a:rPr lang="en-US" sz="1300" b="1" dirty="0">
                <a:solidFill>
                  <a:srgbClr val="02021E"/>
                </a:solidFill>
                <a:latin typeface="Plus Jakarta Sans" pitchFamily="34" charset="0"/>
                <a:ea typeface="Plus Jakarta Sans" pitchFamily="34" charset="-122"/>
                <a:cs typeface="Plus Jakarta Sans" pitchFamily="34" charset="-120"/>
              </a:rPr>
              <a:t>This is what happens when every function builds its own stack in isolation.</a:t>
            </a:r>
            <a:endParaRPr lang="en-US" sz="1300" dirty="0"/>
          </a:p>
        </p:txBody>
      </p:sp>
      <p:sp>
        <p:nvSpPr>
          <p:cNvPr id="7" name="Shape 5"/>
          <p:cNvSpPr/>
          <p:nvPr/>
        </p:nvSpPr>
        <p:spPr>
          <a:xfrm>
            <a:off x="7181880" y="1428750"/>
            <a:ext cx="3962370" cy="4095780"/>
          </a:xfrm>
          <a:prstGeom prst="roundRect">
            <a:avLst>
              <a:gd name="adj" fmla="val 5769"/>
            </a:avLst>
          </a:prstGeom>
          <a:solidFill>
            <a:srgbClr val="02021E"/>
          </a:solidFill>
          <a:ln/>
          <a:effectLst>
            <a:outerShdw sx="100000" sy="100000" kx="0" ky="0" algn="bl" rotWithShape="0" blurRad="203200" dist="63500" dir="5400000">
              <a:srgbClr val="9CA3AF">
                <a:alpha val="16000"/>
              </a:srgbClr>
            </a:outerShdw>
          </a:effectLst>
        </p:spPr>
      </p:sp>
      <p:sp>
        <p:nvSpPr>
          <p:cNvPr id="8" name="Text 6"/>
          <p:cNvSpPr/>
          <p:nvPr/>
        </p:nvSpPr>
        <p:spPr>
          <a:xfrm>
            <a:off x="7467630" y="1809780"/>
            <a:ext cx="3390870" cy="914400"/>
          </a:xfrm>
          <a:prstGeom prst="rect">
            <a:avLst/>
          </a:prstGeom>
          <a:noFill/>
          <a:ln/>
        </p:spPr>
        <p:txBody>
          <a:bodyPr wrap="square" lIns="0" tIns="0" rIns="0" bIns="0" rtlCol="0" anchor="t"/>
          <a:lstStyle/>
          <a:p>
            <a:pPr algn="l" indent="0" marL="0">
              <a:lnSpc>
                <a:spcPct val="100000"/>
              </a:lnSpc>
              <a:buNone/>
            </a:pPr>
            <a:r>
              <a:rPr lang="en-US" sz="6400" b="1" spc="-200" kern="0" dirty="0">
                <a:solidFill>
                  <a:srgbClr val="FF8431"/>
                </a:solidFill>
                <a:latin typeface="Bricolage Grotesque" pitchFamily="34" charset="0"/>
                <a:ea typeface="Bricolage Grotesque" pitchFamily="34" charset="-122"/>
                <a:cs typeface="Bricolage Grotesque" pitchFamily="34" charset="-120"/>
              </a:rPr>
              <a:t>92%</a:t>
            </a:r>
            <a:endParaRPr lang="en-US" sz="6400" dirty="0"/>
          </a:p>
        </p:txBody>
      </p:sp>
      <p:sp>
        <p:nvSpPr>
          <p:cNvPr id="9" name="Text 7"/>
          <p:cNvSpPr/>
          <p:nvPr/>
        </p:nvSpPr>
        <p:spPr>
          <a:xfrm>
            <a:off x="7467630" y="2857500"/>
            <a:ext cx="3390870" cy="2190720"/>
          </a:xfrm>
          <a:prstGeom prst="rect">
            <a:avLst/>
          </a:prstGeom>
          <a:noFill/>
          <a:ln/>
        </p:spPr>
        <p:txBody>
          <a:bodyPr wrap="square" lIns="0" tIns="0" rIns="0" bIns="0" rtlCol="0" anchor="t"/>
          <a:lstStyle/>
          <a:p>
            <a:pPr algn="l" indent="0" marL="0">
              <a:lnSpc>
                <a:spcPct val="142000"/>
              </a:lnSpc>
              <a:buNone/>
            </a:pPr>
            <a:r>
              <a:rPr lang="en-US" sz="1400" dirty="0">
                <a:solidFill>
                  <a:srgbClr val="C9C9FF"/>
                </a:solidFill>
                <a:latin typeface="Plus Jakarta Sans" pitchFamily="34" charset="0"/>
                <a:ea typeface="Plus Jakarta Sans" pitchFamily="34" charset="-122"/>
                <a:cs typeface="Plus Jakarta Sans" pitchFamily="34" charset="-120"/>
              </a:rPr>
              <a:t>of business leaders say the growing number of data sources is limiting their organisation's progress.</a:t>
            </a:r>
            <a:endParaRPr lang="en-US" sz="1400" dirty="0"/>
          </a:p>
        </p:txBody>
      </p:sp>
      <p:sp>
        <p:nvSpPr>
          <p:cNvPr id="10" name="Text 8"/>
          <p:cNvSpPr/>
          <p:nvPr/>
        </p:nvSpPr>
        <p:spPr>
          <a:xfrm>
            <a:off x="7467630" y="5086350"/>
            <a:ext cx="3390870" cy="228600"/>
          </a:xfrm>
          <a:prstGeom prst="rect">
            <a:avLst/>
          </a:prstGeom>
          <a:noFill/>
          <a:ln/>
        </p:spPr>
        <p:txBody>
          <a:bodyPr wrap="square" lIns="0" tIns="0" rIns="0" bIns="0" rtlCol="0" anchor="t"/>
          <a:lstStyle/>
          <a:p>
            <a:pPr algn="l" indent="0" marL="0">
              <a:buNone/>
            </a:pPr>
            <a:r>
              <a:rPr lang="en-US" sz="1200" b="1" dirty="0">
                <a:solidFill>
                  <a:srgbClr val="8A8AA0"/>
                </a:solidFill>
                <a:latin typeface="Plus Jakarta Sans" pitchFamily="34" charset="0"/>
                <a:ea typeface="Plus Jakarta Sans" pitchFamily="34" charset="-122"/>
                <a:cs typeface="Plus Jakarta Sans" pitchFamily="34" charset="-120"/>
              </a:rPr>
              <a:t>Qlik</a:t>
            </a:r>
            <a:endParaRPr lang="en-US" sz="1200" dirty="0"/>
          </a:p>
        </p:txBody>
      </p:sp>
      <p:sp>
        <p:nvSpPr>
          <p:cNvPr id="11" name="Text 9"/>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9F9"/>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THE COST</a:t>
            </a:r>
            <a:endParaRPr lang="en-US" sz="1100" dirty="0"/>
          </a:p>
        </p:txBody>
      </p:sp>
      <p:sp>
        <p:nvSpPr>
          <p:cNvPr id="3" name="Text 1"/>
          <p:cNvSpPr/>
          <p:nvPr/>
        </p:nvSpPr>
        <p:spPr>
          <a:xfrm>
            <a:off x="1047720" y="1123980"/>
            <a:ext cx="5715000" cy="1047720"/>
          </a:xfrm>
          <a:prstGeom prst="rect">
            <a:avLst/>
          </a:prstGeom>
          <a:noFill/>
          <a:ln/>
        </p:spPr>
        <p:txBody>
          <a:bodyPr wrap="square" lIns="0" tIns="0" rIns="0" bIns="0" rtlCol="0" anchor="t"/>
          <a:lstStyle/>
          <a:p>
            <a:pPr algn="l" indent="0" marL="0">
              <a:lnSpc>
                <a:spcPct val="105000"/>
              </a:lnSpc>
              <a:buNone/>
            </a:pPr>
            <a:r>
              <a:rPr lang="en-US" sz="3100" b="1" spc="-50" kern="0" dirty="0">
                <a:solidFill>
                  <a:srgbClr val="02021E"/>
                </a:solidFill>
                <a:latin typeface="Bricolage Grotesque" pitchFamily="34" charset="0"/>
                <a:ea typeface="Bricolage Grotesque" pitchFamily="34" charset="-122"/>
                <a:cs typeface="Bricolage Grotesque" pitchFamily="34" charset="-120"/>
              </a:rPr>
              <a:t>The cost shows up as delay.</a:t>
            </a:r>
            <a:endParaRPr lang="en-US" sz="3100" dirty="0"/>
          </a:p>
        </p:txBody>
      </p:sp>
      <p:sp>
        <p:nvSpPr>
          <p:cNvPr id="4" name="Text 2"/>
          <p:cNvSpPr/>
          <p:nvPr/>
        </p:nvSpPr>
        <p:spPr>
          <a:xfrm>
            <a:off x="1047720" y="2381280"/>
            <a:ext cx="5715000" cy="1524030"/>
          </a:xfrm>
          <a:prstGeom prst="rect">
            <a:avLst/>
          </a:prstGeom>
          <a:noFill/>
          <a:ln/>
        </p:spPr>
        <p:txBody>
          <a:bodyPr wrap="square" lIns="0" tIns="0" rIns="0" bIns="0" rtlCol="0" anchor="t"/>
          <a:lstStyle/>
          <a:p>
            <a:pPr algn="l" indent="0" marL="0">
              <a:lnSpc>
                <a:spcPct val="150000"/>
              </a:lnSpc>
              <a:buNone/>
            </a:pPr>
            <a:r>
              <a:rPr lang="en-US" sz="1300" dirty="0">
                <a:solidFill>
                  <a:srgbClr val="505050"/>
                </a:solidFill>
                <a:latin typeface="Plus Jakarta Sans" pitchFamily="34" charset="0"/>
                <a:ea typeface="Plus Jakarta Sans" pitchFamily="34" charset="-122"/>
                <a:cs typeface="Plus Jakarta Sans" pitchFamily="34" charset="-120"/>
              </a:rPr>
              <a:t>It's the budget reallocation that waits a week for an analyst to confirm what the leader already suspected. The board question nobody has a confident answer to. The judgment call made on gut feel because the data took too long to pull together.</a:t>
            </a:r>
            <a:endParaRPr lang="en-US" sz="1300" dirty="0"/>
          </a:p>
        </p:txBody>
      </p:sp>
      <p:sp>
        <p:nvSpPr>
          <p:cNvPr id="5" name="Text 3"/>
          <p:cNvSpPr/>
          <p:nvPr/>
        </p:nvSpPr>
        <p:spPr>
          <a:xfrm>
            <a:off x="1047720" y="4210080"/>
            <a:ext cx="5715000" cy="571500"/>
          </a:xfrm>
          <a:prstGeom prst="rect">
            <a:avLst/>
          </a:prstGeom>
          <a:noFill/>
          <a:ln/>
        </p:spPr>
        <p:txBody>
          <a:bodyPr wrap="square" lIns="0" tIns="0" rIns="0" bIns="0" rtlCol="0" anchor="t"/>
          <a:lstStyle/>
          <a:p>
            <a:pPr algn="l" indent="0" marL="0">
              <a:lnSpc>
                <a:spcPct val="140000"/>
              </a:lnSpc>
              <a:buNone/>
            </a:pPr>
            <a:r>
              <a:rPr lang="en-US" sz="1400" b="1" dirty="0">
                <a:solidFill>
                  <a:srgbClr val="02021E"/>
                </a:solidFill>
                <a:latin typeface="Plus Jakarta Sans" pitchFamily="34" charset="0"/>
                <a:ea typeface="Plus Jakarta Sans" pitchFamily="34" charset="-122"/>
                <a:cs typeface="Plus Jakarta Sans" pitchFamily="34" charset="-120"/>
              </a:rPr>
              <a:t>The damage shows up as the decisions that don't get made in time.</a:t>
            </a:r>
            <a:endParaRPr lang="en-US" sz="1400" dirty="0"/>
          </a:p>
        </p:txBody>
      </p:sp>
      <p:sp>
        <p:nvSpPr>
          <p:cNvPr id="6" name="Shape 4"/>
          <p:cNvSpPr/>
          <p:nvPr/>
        </p:nvSpPr>
        <p:spPr>
          <a:xfrm>
            <a:off x="7181880" y="1428750"/>
            <a:ext cx="3962370" cy="4095780"/>
          </a:xfrm>
          <a:prstGeom prst="roundRect">
            <a:avLst>
              <a:gd name="adj" fmla="val 5769"/>
            </a:avLst>
          </a:prstGeom>
          <a:solidFill>
            <a:srgbClr val="02021E"/>
          </a:solidFill>
          <a:ln/>
          <a:effectLst>
            <a:outerShdw sx="100000" sy="100000" kx="0" ky="0" algn="bl" rotWithShape="0" blurRad="2580640000" dist="806450000" dir="324000000000">
              <a:srgbClr val="9CA3AF">
                <a:alpha val="1600000000"/>
              </a:srgbClr>
            </a:outerShdw>
          </a:effectLst>
        </p:spPr>
      </p:sp>
      <p:sp>
        <p:nvSpPr>
          <p:cNvPr id="7" name="Text 5"/>
          <p:cNvSpPr/>
          <p:nvPr/>
        </p:nvSpPr>
        <p:spPr>
          <a:xfrm>
            <a:off x="7467630" y="1809780"/>
            <a:ext cx="3390870" cy="914400"/>
          </a:xfrm>
          <a:prstGeom prst="rect">
            <a:avLst/>
          </a:prstGeom>
          <a:noFill/>
          <a:ln/>
        </p:spPr>
        <p:txBody>
          <a:bodyPr wrap="square" lIns="0" tIns="0" rIns="0" bIns="0" rtlCol="0" anchor="t"/>
          <a:lstStyle/>
          <a:p>
            <a:pPr algn="l" indent="0" marL="0">
              <a:lnSpc>
                <a:spcPct val="100000"/>
              </a:lnSpc>
              <a:buNone/>
            </a:pPr>
            <a:r>
              <a:rPr lang="en-US" sz="6400" b="1" spc="-200" kern="0" dirty="0">
                <a:solidFill>
                  <a:srgbClr val="FF8431"/>
                </a:solidFill>
                <a:latin typeface="Bricolage Grotesque" pitchFamily="34" charset="0"/>
                <a:ea typeface="Bricolage Grotesque" pitchFamily="34" charset="-122"/>
                <a:cs typeface="Bricolage Grotesque" pitchFamily="34" charset="-120"/>
              </a:rPr>
              <a:t>61%</a:t>
            </a:r>
            <a:endParaRPr lang="en-US" sz="6400" dirty="0"/>
          </a:p>
        </p:txBody>
      </p:sp>
      <p:sp>
        <p:nvSpPr>
          <p:cNvPr id="8" name="Text 6"/>
          <p:cNvSpPr/>
          <p:nvPr/>
        </p:nvSpPr>
        <p:spPr>
          <a:xfrm>
            <a:off x="7467630" y="2857500"/>
            <a:ext cx="3390870" cy="2190720"/>
          </a:xfrm>
          <a:prstGeom prst="rect">
            <a:avLst/>
          </a:prstGeom>
          <a:noFill/>
          <a:ln/>
        </p:spPr>
        <p:txBody>
          <a:bodyPr wrap="square" lIns="0" tIns="0" rIns="0" bIns="0" rtlCol="0" anchor="t"/>
          <a:lstStyle/>
          <a:p>
            <a:pPr algn="l" indent="0" marL="0">
              <a:lnSpc>
                <a:spcPct val="142000"/>
              </a:lnSpc>
              <a:buNone/>
            </a:pPr>
            <a:r>
              <a:rPr lang="en-US" sz="1400" dirty="0">
                <a:solidFill>
                  <a:srgbClr val="C9C9FF"/>
                </a:solidFill>
                <a:latin typeface="Plus Jakarta Sans" pitchFamily="34" charset="0"/>
                <a:ea typeface="Plus Jakarta Sans" pitchFamily="34" charset="-122"/>
                <a:cs typeface="Plus Jakarta Sans" pitchFamily="34" charset="-120"/>
              </a:rPr>
              <a:t>of C-suite leaders admit their decision-making is only slightly or rarely data-driven — despite running more tools than ever.</a:t>
            </a:r>
            <a:endParaRPr lang="en-US" sz="1400" dirty="0"/>
          </a:p>
        </p:txBody>
      </p:sp>
      <p:sp>
        <p:nvSpPr>
          <p:cNvPr id="9" name="Text 7"/>
          <p:cNvSpPr/>
          <p:nvPr/>
        </p:nvSpPr>
        <p:spPr>
          <a:xfrm>
            <a:off x="7467630" y="5086350"/>
            <a:ext cx="3390870" cy="228600"/>
          </a:xfrm>
          <a:prstGeom prst="rect">
            <a:avLst/>
          </a:prstGeom>
          <a:noFill/>
          <a:ln/>
        </p:spPr>
        <p:txBody>
          <a:bodyPr wrap="square" lIns="0" tIns="0" rIns="0" bIns="0" rtlCol="0" anchor="t"/>
          <a:lstStyle/>
          <a:p>
            <a:pPr algn="l" indent="0" marL="0">
              <a:buNone/>
            </a:pPr>
            <a:r>
              <a:rPr lang="en-US" sz="1200" b="1" dirty="0">
                <a:solidFill>
                  <a:srgbClr val="8A8AA0"/>
                </a:solidFill>
                <a:latin typeface="Plus Jakarta Sans" pitchFamily="34" charset="0"/>
                <a:ea typeface="Plus Jakarta Sans" pitchFamily="34" charset="-122"/>
                <a:cs typeface="Plus Jakarta Sans" pitchFamily="34" charset="-120"/>
              </a:rPr>
              <a:t>Qlik</a:t>
            </a:r>
            <a:endParaRPr lang="en-US" sz="1200" dirty="0"/>
          </a:p>
        </p:txBody>
      </p:sp>
      <p:sp>
        <p:nvSpPr>
          <p:cNvPr id="10" name="Text 8"/>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WHAT ALFRED IS</a:t>
            </a:r>
            <a:endParaRPr lang="en-US" sz="1100" dirty="0"/>
          </a:p>
        </p:txBody>
      </p:sp>
      <p:sp>
        <p:nvSpPr>
          <p:cNvPr id="3" name="Text 1"/>
          <p:cNvSpPr/>
          <p:nvPr/>
        </p:nvSpPr>
        <p:spPr>
          <a:xfrm>
            <a:off x="1047720" y="1104870"/>
            <a:ext cx="9620220" cy="1047720"/>
          </a:xfrm>
          <a:prstGeom prst="rect">
            <a:avLst/>
          </a:prstGeom>
          <a:noFill/>
          <a:ln/>
        </p:spPr>
        <p:txBody>
          <a:bodyPr wrap="square" lIns="0" tIns="0" rIns="0" bIns="0" rtlCol="0" anchor="t"/>
          <a:lstStyle/>
          <a:p>
            <a:pPr algn="l" indent="0" marL="0">
              <a:lnSpc>
                <a:spcPct val="104000"/>
              </a:lnSpc>
              <a:buNone/>
            </a:pPr>
            <a:r>
              <a:rPr lang="en-US" sz="3300" b="1" spc="-60" kern="0" dirty="0">
                <a:solidFill>
                  <a:srgbClr val="02021E"/>
                </a:solidFill>
                <a:latin typeface="Bricolage Grotesque" pitchFamily="34" charset="0"/>
                <a:ea typeface="Bricolage Grotesque" pitchFamily="34" charset="-122"/>
                <a:cs typeface="Bricolage Grotesque" pitchFamily="34" charset="-120"/>
              </a:rPr>
              <a:t>The decision intelligence platform for the modern leadership team.</a:t>
            </a:r>
            <a:endParaRPr lang="en-US" sz="3300" dirty="0"/>
          </a:p>
        </p:txBody>
      </p:sp>
      <p:sp>
        <p:nvSpPr>
          <p:cNvPr id="4" name="Text 2"/>
          <p:cNvSpPr/>
          <p:nvPr/>
        </p:nvSpPr>
        <p:spPr>
          <a:xfrm>
            <a:off x="1047720" y="2152680"/>
            <a:ext cx="8953530" cy="666780"/>
          </a:xfrm>
          <a:prstGeom prst="rect">
            <a:avLst/>
          </a:prstGeom>
          <a:noFill/>
          <a:ln/>
        </p:spPr>
        <p:txBody>
          <a:bodyPr wrap="square" lIns="0" tIns="0" rIns="0" bIns="0" rtlCol="0" anchor="t"/>
          <a:lstStyle/>
          <a:p>
            <a:pPr algn="l" indent="0" marL="0">
              <a:lnSpc>
                <a:spcPct val="145000"/>
              </a:lnSpc>
              <a:buNone/>
            </a:pPr>
            <a:r>
              <a:rPr lang="en-US" sz="1400" dirty="0">
                <a:solidFill>
                  <a:srgbClr val="505050"/>
                </a:solidFill>
                <a:latin typeface="Plus Jakarta Sans" pitchFamily="34" charset="0"/>
                <a:ea typeface="Plus Jakarta Sans" pitchFamily="34" charset="-122"/>
                <a:cs typeface="Plus Jakarta Sans" pitchFamily="34" charset="-120"/>
              </a:rPr>
              <a:t>Alfred connects to your existing tools, builds a living memory of how your business actually works, and tells every leader what changed, why it changed, and what to do next.</a:t>
            </a:r>
            <a:endParaRPr lang="en-US" sz="1400" dirty="0"/>
          </a:p>
        </p:txBody>
      </p:sp>
      <p:sp>
        <p:nvSpPr>
          <p:cNvPr id="5" name="Shape 3"/>
          <p:cNvSpPr/>
          <p:nvPr/>
        </p:nvSpPr>
        <p:spPr>
          <a:xfrm>
            <a:off x="1562070" y="3609960"/>
            <a:ext cx="2162190" cy="0"/>
          </a:xfrm>
          <a:prstGeom prst="line">
            <a:avLst/>
          </a:prstGeom>
          <a:noFill/>
          <a:ln w="25400">
            <a:solidFill>
              <a:srgbClr val="E6E6E6"/>
            </a:solidFill>
            <a:prstDash val="solid"/>
          </a:ln>
        </p:spPr>
      </p:sp>
      <p:sp>
        <p:nvSpPr>
          <p:cNvPr id="6" name="Shape 4"/>
          <p:cNvSpPr/>
          <p:nvPr/>
        </p:nvSpPr>
        <p:spPr>
          <a:xfrm>
            <a:off x="4143421" y="3609960"/>
            <a:ext cx="2162190" cy="0"/>
          </a:xfrm>
          <a:prstGeom prst="line">
            <a:avLst/>
          </a:prstGeom>
          <a:noFill/>
          <a:ln w="25400">
            <a:solidFill>
              <a:srgbClr val="E6E6E6"/>
            </a:solidFill>
            <a:prstDash val="solid"/>
          </a:ln>
        </p:spPr>
      </p:sp>
      <p:sp>
        <p:nvSpPr>
          <p:cNvPr id="7" name="Shape 5"/>
          <p:cNvSpPr/>
          <p:nvPr/>
        </p:nvSpPr>
        <p:spPr>
          <a:xfrm>
            <a:off x="6724680" y="3609960"/>
            <a:ext cx="2162190" cy="0"/>
          </a:xfrm>
          <a:prstGeom prst="line">
            <a:avLst/>
          </a:prstGeom>
          <a:noFill/>
          <a:ln w="25400">
            <a:solidFill>
              <a:srgbClr val="E6E6E6"/>
            </a:solidFill>
            <a:prstDash val="solid"/>
          </a:ln>
        </p:spPr>
      </p:sp>
      <p:sp>
        <p:nvSpPr>
          <p:cNvPr id="8" name="Shape 6"/>
          <p:cNvSpPr/>
          <p:nvPr/>
        </p:nvSpPr>
        <p:spPr>
          <a:xfrm>
            <a:off x="1047720" y="3429000"/>
            <a:ext cx="381030" cy="381030"/>
          </a:xfrm>
          <a:prstGeom prst="roundRect">
            <a:avLst>
              <a:gd name="adj" fmla="val 29998"/>
            </a:avLst>
          </a:prstGeom>
          <a:solidFill>
            <a:srgbClr val="FF8431"/>
          </a:solidFill>
          <a:ln/>
          <a:effectLst>
            <a:outerShdw sx="100000" sy="100000" kx="0" ky="0" algn="bl" rotWithShape="0" blurRad="127000" dist="38100" dir="5400000">
              <a:srgbClr val="FF8431">
                <a:alpha val="45000"/>
              </a:srgbClr>
            </a:outerShdw>
          </a:effectLst>
        </p:spPr>
      </p:sp>
      <p:sp>
        <p:nvSpPr>
          <p:cNvPr id="9" name="Text 7"/>
          <p:cNvSpPr/>
          <p:nvPr/>
        </p:nvSpPr>
        <p:spPr>
          <a:xfrm>
            <a:off x="1047720" y="3429000"/>
            <a:ext cx="381030" cy="381030"/>
          </a:xfrm>
          <a:prstGeom prst="rect">
            <a:avLst/>
          </a:prstGeom>
          <a:noFill/>
          <a:ln/>
        </p:spPr>
        <p:txBody>
          <a:bodyPr wrap="square" lIns="0" tIns="0" rIns="0" bIns="0" rtlCol="0" anchor="ctr"/>
          <a:lstStyle/>
          <a:p>
            <a:pPr algn="ctr" indent="0" marL="0">
              <a:buNone/>
            </a:pPr>
            <a:r>
              <a:rPr lang="en-US" sz="1500" b="1" dirty="0">
                <a:solidFill>
                  <a:srgbClr val="FFFFFF"/>
                </a:solidFill>
                <a:latin typeface="Bricolage Grotesque" pitchFamily="34" charset="0"/>
                <a:ea typeface="Bricolage Grotesque" pitchFamily="34" charset="-122"/>
                <a:cs typeface="Bricolage Grotesque" pitchFamily="34" charset="-120"/>
              </a:rPr>
              <a:t>1</a:t>
            </a:r>
            <a:endParaRPr lang="en-US" sz="1500" dirty="0"/>
          </a:p>
        </p:txBody>
      </p:sp>
      <p:sp>
        <p:nvSpPr>
          <p:cNvPr id="10" name="Text 8"/>
          <p:cNvSpPr/>
          <p:nvPr/>
        </p:nvSpPr>
        <p:spPr>
          <a:xfrm>
            <a:off x="1047720" y="3981480"/>
            <a:ext cx="2257471" cy="285750"/>
          </a:xfrm>
          <a:prstGeom prst="rect">
            <a:avLst/>
          </a:prstGeom>
          <a:noFill/>
          <a:ln/>
        </p:spPr>
        <p:txBody>
          <a:bodyPr wrap="square" lIns="0" tIns="0" rIns="0" bIns="0" rtlCol="0" anchor="t"/>
          <a:lstStyle/>
          <a:p>
            <a:pPr algn="l" indent="0" marL="0">
              <a:buNone/>
            </a:pPr>
            <a:r>
              <a:rPr lang="en-US" sz="1600" b="1" spc="-20" kern="0" dirty="0">
                <a:solidFill>
                  <a:srgbClr val="02021E"/>
                </a:solidFill>
                <a:latin typeface="Bricolage Grotesque" pitchFamily="34" charset="0"/>
                <a:ea typeface="Bricolage Grotesque" pitchFamily="34" charset="-122"/>
                <a:cs typeface="Bricolage Grotesque" pitchFamily="34" charset="-120"/>
              </a:rPr>
              <a:t>Learn</a:t>
            </a:r>
            <a:endParaRPr lang="en-US" sz="1600" dirty="0"/>
          </a:p>
        </p:txBody>
      </p:sp>
      <p:sp>
        <p:nvSpPr>
          <p:cNvPr id="11" name="Text 9"/>
          <p:cNvSpPr/>
          <p:nvPr/>
        </p:nvSpPr>
        <p:spPr>
          <a:xfrm>
            <a:off x="1047720" y="4305270"/>
            <a:ext cx="2238360" cy="1333470"/>
          </a:xfrm>
          <a:prstGeom prst="rect">
            <a:avLst/>
          </a:prstGeom>
          <a:noFill/>
          <a:ln/>
        </p:spPr>
        <p:txBody>
          <a:bodyPr wrap="square" lIns="0" tIns="0" rIns="0" bIns="0" rtlCol="0" anchor="t"/>
          <a:lstStyle/>
          <a:p>
            <a:pPr algn="l" indent="0" marL="0">
              <a:lnSpc>
                <a:spcPct val="132000"/>
              </a:lnSpc>
              <a:buNone/>
            </a:pPr>
            <a:r>
              <a:rPr lang="en-US" sz="1150" dirty="0">
                <a:solidFill>
                  <a:srgbClr val="505050"/>
                </a:solidFill>
                <a:latin typeface="Plus Jakarta Sans" pitchFamily="34" charset="0"/>
                <a:ea typeface="Plus Jakarta Sans" pitchFamily="34" charset="-122"/>
                <a:cs typeface="Plus Jakarta Sans" pitchFamily="34" charset="-120"/>
              </a:rPr>
              <a:t>Connects to your stack — your existing tools, read-only.</a:t>
            </a:r>
            <a:endParaRPr lang="en-US" sz="1150" dirty="0"/>
          </a:p>
        </p:txBody>
      </p:sp>
      <p:sp>
        <p:nvSpPr>
          <p:cNvPr id="12" name="Shape 10"/>
          <p:cNvSpPr/>
          <p:nvPr/>
        </p:nvSpPr>
        <p:spPr>
          <a:xfrm>
            <a:off x="3629071" y="3429000"/>
            <a:ext cx="381030" cy="381030"/>
          </a:xfrm>
          <a:prstGeom prst="roundRect">
            <a:avLst>
              <a:gd name="adj" fmla="val 29998"/>
            </a:avLst>
          </a:prstGeom>
          <a:solidFill>
            <a:srgbClr val="FF8431"/>
          </a:solidFill>
          <a:ln/>
          <a:effectLst>
            <a:outerShdw sx="100000" sy="100000" kx="0" ky="0" algn="bl" rotWithShape="0" blurRad="127000" dist="38100" dir="5400000">
              <a:srgbClr val="FF8431">
                <a:alpha val="45000"/>
              </a:srgbClr>
            </a:outerShdw>
          </a:effectLst>
        </p:spPr>
      </p:sp>
      <p:sp>
        <p:nvSpPr>
          <p:cNvPr id="13" name="Text 11"/>
          <p:cNvSpPr/>
          <p:nvPr/>
        </p:nvSpPr>
        <p:spPr>
          <a:xfrm>
            <a:off x="3629071" y="3429000"/>
            <a:ext cx="381030" cy="381030"/>
          </a:xfrm>
          <a:prstGeom prst="rect">
            <a:avLst/>
          </a:prstGeom>
          <a:noFill/>
          <a:ln/>
        </p:spPr>
        <p:txBody>
          <a:bodyPr wrap="square" lIns="0" tIns="0" rIns="0" bIns="0" rtlCol="0" anchor="ctr"/>
          <a:lstStyle/>
          <a:p>
            <a:pPr algn="ctr" indent="0" marL="0">
              <a:buNone/>
            </a:pPr>
            <a:r>
              <a:rPr lang="en-US" sz="1500" b="1" dirty="0">
                <a:solidFill>
                  <a:srgbClr val="FFFFFF"/>
                </a:solidFill>
                <a:latin typeface="Bricolage Grotesque" pitchFamily="34" charset="0"/>
                <a:ea typeface="Bricolage Grotesque" pitchFamily="34" charset="-122"/>
                <a:cs typeface="Bricolage Grotesque" pitchFamily="34" charset="-120"/>
              </a:rPr>
              <a:t>2</a:t>
            </a:r>
            <a:endParaRPr lang="en-US" sz="1500" dirty="0"/>
          </a:p>
        </p:txBody>
      </p:sp>
      <p:sp>
        <p:nvSpPr>
          <p:cNvPr id="14" name="Text 12"/>
          <p:cNvSpPr/>
          <p:nvPr/>
        </p:nvSpPr>
        <p:spPr>
          <a:xfrm>
            <a:off x="3629071" y="3981480"/>
            <a:ext cx="2257471" cy="285750"/>
          </a:xfrm>
          <a:prstGeom prst="rect">
            <a:avLst/>
          </a:prstGeom>
          <a:noFill/>
          <a:ln/>
        </p:spPr>
        <p:txBody>
          <a:bodyPr wrap="square" lIns="0" tIns="0" rIns="0" bIns="0" rtlCol="0" anchor="t"/>
          <a:lstStyle/>
          <a:p>
            <a:pPr algn="l" indent="0" marL="0">
              <a:buNone/>
            </a:pPr>
            <a:r>
              <a:rPr lang="en-US" sz="1600" b="1" spc="-20" kern="0" dirty="0">
                <a:solidFill>
                  <a:srgbClr val="02021E"/>
                </a:solidFill>
                <a:latin typeface="Bricolage Grotesque" pitchFamily="34" charset="0"/>
                <a:ea typeface="Bricolage Grotesque" pitchFamily="34" charset="-122"/>
                <a:cs typeface="Bricolage Grotesque" pitchFamily="34" charset="-120"/>
              </a:rPr>
              <a:t>Nudge</a:t>
            </a:r>
            <a:endParaRPr lang="en-US" sz="1600" dirty="0"/>
          </a:p>
        </p:txBody>
      </p:sp>
      <p:sp>
        <p:nvSpPr>
          <p:cNvPr id="15" name="Text 13"/>
          <p:cNvSpPr/>
          <p:nvPr/>
        </p:nvSpPr>
        <p:spPr>
          <a:xfrm>
            <a:off x="3629071" y="4305270"/>
            <a:ext cx="2238360" cy="1333470"/>
          </a:xfrm>
          <a:prstGeom prst="rect">
            <a:avLst/>
          </a:prstGeom>
          <a:noFill/>
          <a:ln/>
        </p:spPr>
        <p:txBody>
          <a:bodyPr wrap="square" lIns="0" tIns="0" rIns="0" bIns="0" rtlCol="0" anchor="t"/>
          <a:lstStyle/>
          <a:p>
            <a:pPr algn="l" indent="0" marL="0">
              <a:lnSpc>
                <a:spcPct val="132000"/>
              </a:lnSpc>
              <a:buNone/>
            </a:pPr>
            <a:r>
              <a:rPr lang="en-US" sz="1150" dirty="0">
                <a:solidFill>
                  <a:srgbClr val="505050"/>
                </a:solidFill>
                <a:latin typeface="Plus Jakarta Sans" pitchFamily="34" charset="0"/>
                <a:ea typeface="Plus Jakarta Sans" pitchFamily="34" charset="-122"/>
                <a:cs typeface="Plus Jakarta Sans" pitchFamily="34" charset="-120"/>
              </a:rPr>
              <a:t>Continuously reasons across everything it can see.</a:t>
            </a:r>
            <a:endParaRPr lang="en-US" sz="1150" dirty="0"/>
          </a:p>
        </p:txBody>
      </p:sp>
      <p:sp>
        <p:nvSpPr>
          <p:cNvPr id="16" name="Shape 14"/>
          <p:cNvSpPr/>
          <p:nvPr/>
        </p:nvSpPr>
        <p:spPr>
          <a:xfrm>
            <a:off x="6210330" y="3429000"/>
            <a:ext cx="381030" cy="381030"/>
          </a:xfrm>
          <a:prstGeom prst="roundRect">
            <a:avLst>
              <a:gd name="adj" fmla="val 29998"/>
            </a:avLst>
          </a:prstGeom>
          <a:solidFill>
            <a:srgbClr val="FF8431"/>
          </a:solidFill>
          <a:ln/>
          <a:effectLst>
            <a:outerShdw sx="100000" sy="100000" kx="0" ky="0" algn="bl" rotWithShape="0" blurRad="127000" dist="38100" dir="5400000">
              <a:srgbClr val="FF8431">
                <a:alpha val="45000"/>
              </a:srgbClr>
            </a:outerShdw>
          </a:effectLst>
        </p:spPr>
      </p:sp>
      <p:sp>
        <p:nvSpPr>
          <p:cNvPr id="17" name="Text 15"/>
          <p:cNvSpPr/>
          <p:nvPr/>
        </p:nvSpPr>
        <p:spPr>
          <a:xfrm>
            <a:off x="6210330" y="3429000"/>
            <a:ext cx="381030" cy="381030"/>
          </a:xfrm>
          <a:prstGeom prst="rect">
            <a:avLst/>
          </a:prstGeom>
          <a:noFill/>
          <a:ln/>
        </p:spPr>
        <p:txBody>
          <a:bodyPr wrap="square" lIns="0" tIns="0" rIns="0" bIns="0" rtlCol="0" anchor="ctr"/>
          <a:lstStyle/>
          <a:p>
            <a:pPr algn="ctr" indent="0" marL="0">
              <a:buNone/>
            </a:pPr>
            <a:r>
              <a:rPr lang="en-US" sz="1500" b="1" dirty="0">
                <a:solidFill>
                  <a:srgbClr val="FFFFFF"/>
                </a:solidFill>
                <a:latin typeface="Bricolage Grotesque" pitchFamily="34" charset="0"/>
                <a:ea typeface="Bricolage Grotesque" pitchFamily="34" charset="-122"/>
                <a:cs typeface="Bricolage Grotesque" pitchFamily="34" charset="-120"/>
              </a:rPr>
              <a:t>3</a:t>
            </a:r>
            <a:endParaRPr lang="en-US" sz="1500" dirty="0"/>
          </a:p>
        </p:txBody>
      </p:sp>
      <p:sp>
        <p:nvSpPr>
          <p:cNvPr id="18" name="Text 16"/>
          <p:cNvSpPr/>
          <p:nvPr/>
        </p:nvSpPr>
        <p:spPr>
          <a:xfrm>
            <a:off x="6210330" y="3981480"/>
            <a:ext cx="2257471" cy="285750"/>
          </a:xfrm>
          <a:prstGeom prst="rect">
            <a:avLst/>
          </a:prstGeom>
          <a:noFill/>
          <a:ln/>
        </p:spPr>
        <p:txBody>
          <a:bodyPr wrap="square" lIns="0" tIns="0" rIns="0" bIns="0" rtlCol="0" anchor="t"/>
          <a:lstStyle/>
          <a:p>
            <a:pPr algn="l" indent="0" marL="0">
              <a:buNone/>
            </a:pPr>
            <a:r>
              <a:rPr lang="en-US" sz="1600" b="1" spc="-20" kern="0" dirty="0">
                <a:solidFill>
                  <a:srgbClr val="02021E"/>
                </a:solidFill>
                <a:latin typeface="Bricolage Grotesque" pitchFamily="34" charset="0"/>
                <a:ea typeface="Bricolage Grotesque" pitchFamily="34" charset="-122"/>
                <a:cs typeface="Bricolage Grotesque" pitchFamily="34" charset="-120"/>
              </a:rPr>
              <a:t>Recommend</a:t>
            </a:r>
            <a:endParaRPr lang="en-US" sz="1600" dirty="0"/>
          </a:p>
        </p:txBody>
      </p:sp>
      <p:sp>
        <p:nvSpPr>
          <p:cNvPr id="19" name="Text 17"/>
          <p:cNvSpPr/>
          <p:nvPr/>
        </p:nvSpPr>
        <p:spPr>
          <a:xfrm>
            <a:off x="6210330" y="4305270"/>
            <a:ext cx="2238360" cy="1333470"/>
          </a:xfrm>
          <a:prstGeom prst="rect">
            <a:avLst/>
          </a:prstGeom>
          <a:noFill/>
          <a:ln/>
        </p:spPr>
        <p:txBody>
          <a:bodyPr wrap="square" lIns="0" tIns="0" rIns="0" bIns="0" rtlCol="0" anchor="t"/>
          <a:lstStyle/>
          <a:p>
            <a:pPr algn="l" indent="0" marL="0">
              <a:lnSpc>
                <a:spcPct val="132000"/>
              </a:lnSpc>
              <a:buNone/>
            </a:pPr>
            <a:r>
              <a:rPr lang="en-US" sz="1150" dirty="0">
                <a:solidFill>
                  <a:srgbClr val="505050"/>
                </a:solidFill>
                <a:latin typeface="Plus Jakarta Sans" pitchFamily="34" charset="0"/>
                <a:ea typeface="Plus Jakarta Sans" pitchFamily="34" charset="-122"/>
                <a:cs typeface="Plus Jakarta Sans" pitchFamily="34" charset="-120"/>
              </a:rPr>
              <a:t>Surfaces what matters, in plain language.</a:t>
            </a:r>
            <a:endParaRPr lang="en-US" sz="1150" dirty="0"/>
          </a:p>
        </p:txBody>
      </p:sp>
      <p:sp>
        <p:nvSpPr>
          <p:cNvPr id="20" name="Shape 18"/>
          <p:cNvSpPr/>
          <p:nvPr/>
        </p:nvSpPr>
        <p:spPr>
          <a:xfrm>
            <a:off x="8791590" y="3429000"/>
            <a:ext cx="381030" cy="381030"/>
          </a:xfrm>
          <a:prstGeom prst="roundRect">
            <a:avLst>
              <a:gd name="adj" fmla="val 29998"/>
            </a:avLst>
          </a:prstGeom>
          <a:solidFill>
            <a:srgbClr val="FF8431"/>
          </a:solidFill>
          <a:ln/>
          <a:effectLst>
            <a:outerShdw sx="100000" sy="100000" kx="0" ky="0" algn="bl" rotWithShape="0" blurRad="127000" dist="38100" dir="5400000">
              <a:srgbClr val="FF8431">
                <a:alpha val="45000"/>
              </a:srgbClr>
            </a:outerShdw>
          </a:effectLst>
        </p:spPr>
      </p:sp>
      <p:sp>
        <p:nvSpPr>
          <p:cNvPr id="21" name="Text 19"/>
          <p:cNvSpPr/>
          <p:nvPr/>
        </p:nvSpPr>
        <p:spPr>
          <a:xfrm>
            <a:off x="8791590" y="3429000"/>
            <a:ext cx="381030" cy="381030"/>
          </a:xfrm>
          <a:prstGeom prst="rect">
            <a:avLst/>
          </a:prstGeom>
          <a:noFill/>
          <a:ln/>
        </p:spPr>
        <p:txBody>
          <a:bodyPr wrap="square" lIns="0" tIns="0" rIns="0" bIns="0" rtlCol="0" anchor="ctr"/>
          <a:lstStyle/>
          <a:p>
            <a:pPr algn="ctr" indent="0" marL="0">
              <a:buNone/>
            </a:pPr>
            <a:r>
              <a:rPr lang="en-US" sz="1500" b="1" dirty="0">
                <a:solidFill>
                  <a:srgbClr val="FFFFFF"/>
                </a:solidFill>
                <a:latin typeface="Bricolage Grotesque" pitchFamily="34" charset="0"/>
                <a:ea typeface="Bricolage Grotesque" pitchFamily="34" charset="-122"/>
                <a:cs typeface="Bricolage Grotesque" pitchFamily="34" charset="-120"/>
              </a:rPr>
              <a:t>4</a:t>
            </a:r>
            <a:endParaRPr lang="en-US" sz="1500" dirty="0"/>
          </a:p>
        </p:txBody>
      </p:sp>
      <p:sp>
        <p:nvSpPr>
          <p:cNvPr id="22" name="Text 20"/>
          <p:cNvSpPr/>
          <p:nvPr/>
        </p:nvSpPr>
        <p:spPr>
          <a:xfrm>
            <a:off x="8791590" y="3981480"/>
            <a:ext cx="2257471" cy="285750"/>
          </a:xfrm>
          <a:prstGeom prst="rect">
            <a:avLst/>
          </a:prstGeom>
          <a:noFill/>
          <a:ln/>
        </p:spPr>
        <p:txBody>
          <a:bodyPr wrap="square" lIns="0" tIns="0" rIns="0" bIns="0" rtlCol="0" anchor="t"/>
          <a:lstStyle/>
          <a:p>
            <a:pPr algn="l" indent="0" marL="0">
              <a:buNone/>
            </a:pPr>
            <a:r>
              <a:rPr lang="en-US" sz="1600" b="1" spc="-20" kern="0" dirty="0">
                <a:solidFill>
                  <a:srgbClr val="02021E"/>
                </a:solidFill>
                <a:latin typeface="Bricolage Grotesque" pitchFamily="34" charset="0"/>
                <a:ea typeface="Bricolage Grotesque" pitchFamily="34" charset="-122"/>
                <a:cs typeface="Bricolage Grotesque" pitchFamily="34" charset="-120"/>
              </a:rPr>
              <a:t>Act</a:t>
            </a:r>
            <a:endParaRPr lang="en-US" sz="1600" dirty="0"/>
          </a:p>
        </p:txBody>
      </p:sp>
      <p:sp>
        <p:nvSpPr>
          <p:cNvPr id="23" name="Text 21"/>
          <p:cNvSpPr/>
          <p:nvPr/>
        </p:nvSpPr>
        <p:spPr>
          <a:xfrm>
            <a:off x="8791590" y="4305270"/>
            <a:ext cx="2238360" cy="1333470"/>
          </a:xfrm>
          <a:prstGeom prst="rect">
            <a:avLst/>
          </a:prstGeom>
          <a:noFill/>
          <a:ln/>
        </p:spPr>
        <p:txBody>
          <a:bodyPr wrap="square" lIns="0" tIns="0" rIns="0" bIns="0" rtlCol="0" anchor="t"/>
          <a:lstStyle/>
          <a:p>
            <a:pPr algn="l" indent="0" marL="0">
              <a:lnSpc>
                <a:spcPct val="132000"/>
              </a:lnSpc>
              <a:buNone/>
            </a:pPr>
            <a:r>
              <a:rPr lang="en-US" sz="1150" dirty="0">
                <a:solidFill>
                  <a:srgbClr val="505050"/>
                </a:solidFill>
                <a:latin typeface="Plus Jakarta Sans" pitchFamily="34" charset="0"/>
                <a:ea typeface="Plus Jakarta Sans" pitchFamily="34" charset="-122"/>
                <a:cs typeface="Plus Jakarta Sans" pitchFamily="34" charset="-120"/>
              </a:rPr>
              <a:t>Executes on command, inside your tools.</a:t>
            </a:r>
            <a:endParaRPr lang="en-US" sz="1150" dirty="0"/>
          </a:p>
        </p:txBody>
      </p:sp>
      <p:sp>
        <p:nvSpPr>
          <p:cNvPr id="24" name="Text 22"/>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THE ARCHITECTURE</a:t>
            </a:r>
            <a:endParaRPr lang="en-US" sz="1100" dirty="0"/>
          </a:p>
        </p:txBody>
      </p:sp>
      <p:sp>
        <p:nvSpPr>
          <p:cNvPr id="3" name="Text 1"/>
          <p:cNvSpPr/>
          <p:nvPr/>
        </p:nvSpPr>
        <p:spPr>
          <a:xfrm>
            <a:off x="1047720" y="1104870"/>
            <a:ext cx="9620220" cy="533370"/>
          </a:xfrm>
          <a:prstGeom prst="rect">
            <a:avLst/>
          </a:prstGeom>
          <a:noFill/>
          <a:ln/>
        </p:spPr>
        <p:txBody>
          <a:bodyPr wrap="square" lIns="0" tIns="0" rIns="0" bIns="0" rtlCol="0" anchor="t"/>
          <a:lstStyle/>
          <a:p>
            <a:pPr algn="l" indent="0" marL="0">
              <a:buNone/>
            </a:pPr>
            <a:r>
              <a:rPr lang="en-US" sz="3600" b="1" spc="-60" kern="0" dirty="0">
                <a:solidFill>
                  <a:srgbClr val="02021E"/>
                </a:solidFill>
                <a:latin typeface="Bricolage Grotesque" pitchFamily="34" charset="0"/>
                <a:ea typeface="Bricolage Grotesque" pitchFamily="34" charset="-122"/>
                <a:cs typeface="Bricolage Grotesque" pitchFamily="34" charset="-120"/>
              </a:rPr>
              <a:t>One engine. Every function.</a:t>
            </a:r>
            <a:endParaRPr lang="en-US" sz="3600" dirty="0"/>
          </a:p>
        </p:txBody>
      </p:sp>
      <p:sp>
        <p:nvSpPr>
          <p:cNvPr id="4" name="Text 2"/>
          <p:cNvSpPr/>
          <p:nvPr/>
        </p:nvSpPr>
        <p:spPr>
          <a:xfrm>
            <a:off x="1047720" y="1695480"/>
            <a:ext cx="9620220" cy="952530"/>
          </a:xfrm>
          <a:prstGeom prst="rect">
            <a:avLst/>
          </a:prstGeom>
          <a:noFill/>
          <a:ln/>
        </p:spPr>
        <p:txBody>
          <a:bodyPr wrap="square" lIns="0" tIns="0" rIns="0" bIns="0" rtlCol="0" anchor="t"/>
          <a:lstStyle/>
          <a:p>
            <a:pPr algn="l" indent="0" marL="0">
              <a:lnSpc>
                <a:spcPct val="145000"/>
              </a:lnSpc>
              <a:buNone/>
            </a:pPr>
            <a:r>
              <a:rPr lang="en-US" sz="1300" dirty="0">
                <a:solidFill>
                  <a:srgbClr val="505050"/>
                </a:solidFill>
                <a:latin typeface="Plus Jakarta Sans" pitchFamily="34" charset="0"/>
                <a:ea typeface="Plus Jakarta Sans" pitchFamily="34" charset="-122"/>
                <a:cs typeface="Plus Jakarta Sans" pitchFamily="34" charset="-120"/>
              </a:rPr>
              <a:t>Alfred Core is the central decision intelligence engine behind every Alfred product. It orchestrates specialised agents across marketing, sales, finance, and operations, connects their signals, and delivers coordinated intelligence to every leader in real time. Five functional modules run on top — each built for a leader's domain, all sharing one engine, one memory, one operating model.</a:t>
            </a:r>
            <a:endParaRPr lang="en-US" sz="1300" dirty="0"/>
          </a:p>
        </p:txBody>
      </p:sp>
      <p:sp>
        <p:nvSpPr>
          <p:cNvPr id="5" name="Shape 3"/>
          <p:cNvSpPr/>
          <p:nvPr/>
        </p:nvSpPr>
        <p:spPr>
          <a:xfrm>
            <a:off x="1047720" y="3429000"/>
            <a:ext cx="1912650" cy="590520"/>
          </a:xfrm>
          <a:prstGeom prst="roundRect">
            <a:avLst>
              <a:gd name="adj" fmla="val 22577"/>
            </a:avLst>
          </a:prstGeom>
          <a:solidFill>
            <a:srgbClr val="FFFFFF"/>
          </a:solidFill>
          <a:ln w="12700">
            <a:solidFill>
              <a:srgbClr val="E6E6E6"/>
            </a:solidFill>
            <a:prstDash val="solid"/>
          </a:ln>
        </p:spPr>
      </p:sp>
      <p:sp>
        <p:nvSpPr>
          <p:cNvPr id="6" name="Text 4"/>
          <p:cNvSpPr/>
          <p:nvPr/>
        </p:nvSpPr>
        <p:spPr>
          <a:xfrm>
            <a:off x="1047720" y="3429000"/>
            <a:ext cx="1912650" cy="590520"/>
          </a:xfrm>
          <a:prstGeom prst="rect">
            <a:avLst/>
          </a:prstGeom>
          <a:noFill/>
          <a:ln/>
        </p:spPr>
        <p:txBody>
          <a:bodyPr wrap="square" lIns="0" tIns="0" rIns="0" bIns="0" rtlCol="0" anchor="ctr"/>
          <a:lstStyle/>
          <a:p>
            <a:pPr algn="ctr" indent="0" marL="0">
              <a:buNone/>
            </a:pPr>
            <a:r>
              <a:rPr lang="en-US" sz="1200" b="1" dirty="0">
                <a:solidFill>
                  <a:srgbClr val="323232"/>
                </a:solidFill>
                <a:latin typeface="Plus Jakarta Sans" pitchFamily="34" charset="0"/>
                <a:ea typeface="Plus Jakarta Sans" pitchFamily="34" charset="-122"/>
                <a:cs typeface="Plus Jakarta Sans" pitchFamily="34" charset="-120"/>
              </a:rPr>
              <a:t>Marketing</a:t>
            </a:r>
            <a:endParaRPr lang="en-US" sz="1200" dirty="0"/>
          </a:p>
        </p:txBody>
      </p:sp>
      <p:sp>
        <p:nvSpPr>
          <p:cNvPr id="7" name="Shape 5"/>
          <p:cNvSpPr/>
          <p:nvPr/>
        </p:nvSpPr>
        <p:spPr>
          <a:xfrm>
            <a:off x="2004090" y="4019520"/>
            <a:ext cx="0" cy="171450"/>
          </a:xfrm>
          <a:prstGeom prst="line">
            <a:avLst/>
          </a:prstGeom>
          <a:noFill/>
          <a:ln w="25400">
            <a:solidFill>
              <a:srgbClr val="E6E6E6"/>
            </a:solidFill>
            <a:prstDash val="solid"/>
          </a:ln>
        </p:spPr>
      </p:sp>
      <p:sp>
        <p:nvSpPr>
          <p:cNvPr id="8" name="Shape 6"/>
          <p:cNvSpPr/>
          <p:nvPr/>
        </p:nvSpPr>
        <p:spPr>
          <a:xfrm>
            <a:off x="3093690" y="3429000"/>
            <a:ext cx="1912650" cy="590520"/>
          </a:xfrm>
          <a:prstGeom prst="roundRect">
            <a:avLst>
              <a:gd name="adj" fmla="val 22577"/>
            </a:avLst>
          </a:prstGeom>
          <a:solidFill>
            <a:srgbClr val="FFFFFF"/>
          </a:solidFill>
          <a:ln w="12700">
            <a:solidFill>
              <a:srgbClr val="E6E6E6"/>
            </a:solidFill>
            <a:prstDash val="solid"/>
          </a:ln>
        </p:spPr>
      </p:sp>
      <p:sp>
        <p:nvSpPr>
          <p:cNvPr id="9" name="Text 7"/>
          <p:cNvSpPr/>
          <p:nvPr/>
        </p:nvSpPr>
        <p:spPr>
          <a:xfrm>
            <a:off x="3093690" y="3429000"/>
            <a:ext cx="1912650" cy="590520"/>
          </a:xfrm>
          <a:prstGeom prst="rect">
            <a:avLst/>
          </a:prstGeom>
          <a:noFill/>
          <a:ln/>
        </p:spPr>
        <p:txBody>
          <a:bodyPr wrap="square" lIns="0" tIns="0" rIns="0" bIns="0" rtlCol="0" anchor="ctr"/>
          <a:lstStyle/>
          <a:p>
            <a:pPr algn="ctr" indent="0" marL="0">
              <a:buNone/>
            </a:pPr>
            <a:r>
              <a:rPr lang="en-US" sz="1200" b="1" dirty="0">
                <a:solidFill>
                  <a:srgbClr val="323232"/>
                </a:solidFill>
                <a:latin typeface="Plus Jakarta Sans" pitchFamily="34" charset="0"/>
                <a:ea typeface="Plus Jakarta Sans" pitchFamily="34" charset="-122"/>
                <a:cs typeface="Plus Jakarta Sans" pitchFamily="34" charset="-120"/>
              </a:rPr>
              <a:t>Sales</a:t>
            </a:r>
            <a:endParaRPr lang="en-US" sz="1200" dirty="0"/>
          </a:p>
        </p:txBody>
      </p:sp>
      <p:sp>
        <p:nvSpPr>
          <p:cNvPr id="10" name="Shape 8"/>
          <p:cNvSpPr/>
          <p:nvPr/>
        </p:nvSpPr>
        <p:spPr>
          <a:xfrm>
            <a:off x="4050060" y="4019520"/>
            <a:ext cx="0" cy="171450"/>
          </a:xfrm>
          <a:prstGeom prst="line">
            <a:avLst/>
          </a:prstGeom>
          <a:noFill/>
          <a:ln w="25400">
            <a:solidFill>
              <a:srgbClr val="E6E6E6"/>
            </a:solidFill>
            <a:prstDash val="solid"/>
          </a:ln>
        </p:spPr>
      </p:sp>
      <p:sp>
        <p:nvSpPr>
          <p:cNvPr id="11" name="Shape 9"/>
          <p:cNvSpPr/>
          <p:nvPr/>
        </p:nvSpPr>
        <p:spPr>
          <a:xfrm>
            <a:off x="5139660" y="3429000"/>
            <a:ext cx="1912650" cy="590520"/>
          </a:xfrm>
          <a:prstGeom prst="roundRect">
            <a:avLst>
              <a:gd name="adj" fmla="val 22577"/>
            </a:avLst>
          </a:prstGeom>
          <a:solidFill>
            <a:srgbClr val="FFFFFF"/>
          </a:solidFill>
          <a:ln w="12700">
            <a:solidFill>
              <a:srgbClr val="E6E6E6"/>
            </a:solidFill>
            <a:prstDash val="solid"/>
          </a:ln>
        </p:spPr>
      </p:sp>
      <p:sp>
        <p:nvSpPr>
          <p:cNvPr id="12" name="Text 10"/>
          <p:cNvSpPr/>
          <p:nvPr/>
        </p:nvSpPr>
        <p:spPr>
          <a:xfrm>
            <a:off x="5139660" y="3429000"/>
            <a:ext cx="1912650" cy="590520"/>
          </a:xfrm>
          <a:prstGeom prst="rect">
            <a:avLst/>
          </a:prstGeom>
          <a:noFill/>
          <a:ln/>
        </p:spPr>
        <p:txBody>
          <a:bodyPr wrap="square" lIns="0" tIns="0" rIns="0" bIns="0" rtlCol="0" anchor="ctr"/>
          <a:lstStyle/>
          <a:p>
            <a:pPr algn="ctr" indent="0" marL="0">
              <a:buNone/>
            </a:pPr>
            <a:r>
              <a:rPr lang="en-US" sz="1200" b="1" dirty="0">
                <a:solidFill>
                  <a:srgbClr val="323232"/>
                </a:solidFill>
                <a:latin typeface="Plus Jakarta Sans" pitchFamily="34" charset="0"/>
                <a:ea typeface="Plus Jakarta Sans" pitchFamily="34" charset="-122"/>
                <a:cs typeface="Plus Jakarta Sans" pitchFamily="34" charset="-120"/>
              </a:rPr>
              <a:t>Finance</a:t>
            </a:r>
            <a:endParaRPr lang="en-US" sz="1200" dirty="0"/>
          </a:p>
        </p:txBody>
      </p:sp>
      <p:sp>
        <p:nvSpPr>
          <p:cNvPr id="13" name="Shape 11"/>
          <p:cNvSpPr/>
          <p:nvPr/>
        </p:nvSpPr>
        <p:spPr>
          <a:xfrm>
            <a:off x="6096030" y="4019520"/>
            <a:ext cx="0" cy="171450"/>
          </a:xfrm>
          <a:prstGeom prst="line">
            <a:avLst/>
          </a:prstGeom>
          <a:noFill/>
          <a:ln w="25400">
            <a:solidFill>
              <a:srgbClr val="E6E6E6"/>
            </a:solidFill>
            <a:prstDash val="solid"/>
          </a:ln>
        </p:spPr>
      </p:sp>
      <p:sp>
        <p:nvSpPr>
          <p:cNvPr id="14" name="Shape 12"/>
          <p:cNvSpPr/>
          <p:nvPr/>
        </p:nvSpPr>
        <p:spPr>
          <a:xfrm>
            <a:off x="7185630" y="3429000"/>
            <a:ext cx="1912650" cy="590520"/>
          </a:xfrm>
          <a:prstGeom prst="roundRect">
            <a:avLst>
              <a:gd name="adj" fmla="val 22577"/>
            </a:avLst>
          </a:prstGeom>
          <a:solidFill>
            <a:srgbClr val="FFFFFF"/>
          </a:solidFill>
          <a:ln w="12700">
            <a:solidFill>
              <a:srgbClr val="E6E6E6"/>
            </a:solidFill>
            <a:prstDash val="solid"/>
          </a:ln>
        </p:spPr>
      </p:sp>
      <p:sp>
        <p:nvSpPr>
          <p:cNvPr id="15" name="Text 13"/>
          <p:cNvSpPr/>
          <p:nvPr/>
        </p:nvSpPr>
        <p:spPr>
          <a:xfrm>
            <a:off x="7185630" y="3429000"/>
            <a:ext cx="1912650" cy="590520"/>
          </a:xfrm>
          <a:prstGeom prst="rect">
            <a:avLst/>
          </a:prstGeom>
          <a:noFill/>
          <a:ln/>
        </p:spPr>
        <p:txBody>
          <a:bodyPr wrap="square" lIns="0" tIns="0" rIns="0" bIns="0" rtlCol="0" anchor="ctr"/>
          <a:lstStyle/>
          <a:p>
            <a:pPr algn="ctr" indent="0" marL="0">
              <a:buNone/>
            </a:pPr>
            <a:r>
              <a:rPr lang="en-US" sz="1200" b="1" dirty="0">
                <a:solidFill>
                  <a:srgbClr val="323232"/>
                </a:solidFill>
                <a:latin typeface="Plus Jakarta Sans" pitchFamily="34" charset="0"/>
                <a:ea typeface="Plus Jakarta Sans" pitchFamily="34" charset="-122"/>
                <a:cs typeface="Plus Jakarta Sans" pitchFamily="34" charset="-120"/>
              </a:rPr>
              <a:t>Operations</a:t>
            </a:r>
            <a:endParaRPr lang="en-US" sz="1200" dirty="0"/>
          </a:p>
        </p:txBody>
      </p:sp>
      <p:sp>
        <p:nvSpPr>
          <p:cNvPr id="16" name="Shape 14"/>
          <p:cNvSpPr/>
          <p:nvPr/>
        </p:nvSpPr>
        <p:spPr>
          <a:xfrm>
            <a:off x="8142000" y="4019520"/>
            <a:ext cx="0" cy="171450"/>
          </a:xfrm>
          <a:prstGeom prst="line">
            <a:avLst/>
          </a:prstGeom>
          <a:noFill/>
          <a:ln w="25400">
            <a:solidFill>
              <a:srgbClr val="E6E6E6"/>
            </a:solidFill>
            <a:prstDash val="solid"/>
          </a:ln>
        </p:spPr>
      </p:sp>
      <p:sp>
        <p:nvSpPr>
          <p:cNvPr id="17" name="Shape 15"/>
          <p:cNvSpPr/>
          <p:nvPr/>
        </p:nvSpPr>
        <p:spPr>
          <a:xfrm>
            <a:off x="9231600" y="3429000"/>
            <a:ext cx="1912650" cy="590520"/>
          </a:xfrm>
          <a:prstGeom prst="roundRect">
            <a:avLst>
              <a:gd name="adj" fmla="val 22577"/>
            </a:avLst>
          </a:prstGeom>
          <a:solidFill>
            <a:srgbClr val="FFFFFF"/>
          </a:solidFill>
          <a:ln w="12700">
            <a:solidFill>
              <a:srgbClr val="E6E6E6"/>
            </a:solidFill>
            <a:prstDash val="solid"/>
          </a:ln>
        </p:spPr>
      </p:sp>
      <p:sp>
        <p:nvSpPr>
          <p:cNvPr id="18" name="Text 16"/>
          <p:cNvSpPr/>
          <p:nvPr/>
        </p:nvSpPr>
        <p:spPr>
          <a:xfrm>
            <a:off x="9231600" y="3429000"/>
            <a:ext cx="1912650" cy="590520"/>
          </a:xfrm>
          <a:prstGeom prst="rect">
            <a:avLst/>
          </a:prstGeom>
          <a:noFill/>
          <a:ln/>
        </p:spPr>
        <p:txBody>
          <a:bodyPr wrap="square" lIns="0" tIns="0" rIns="0" bIns="0" rtlCol="0" anchor="ctr"/>
          <a:lstStyle/>
          <a:p>
            <a:pPr algn="ctr" indent="0" marL="0">
              <a:buNone/>
            </a:pPr>
            <a:r>
              <a:rPr lang="en-US" sz="1200" b="1" dirty="0">
                <a:solidFill>
                  <a:srgbClr val="323232"/>
                </a:solidFill>
                <a:latin typeface="Plus Jakarta Sans" pitchFamily="34" charset="0"/>
                <a:ea typeface="Plus Jakarta Sans" pitchFamily="34" charset="-122"/>
                <a:cs typeface="Plus Jakarta Sans" pitchFamily="34" charset="-120"/>
              </a:rPr>
              <a:t>CEO / Founder</a:t>
            </a:r>
            <a:endParaRPr lang="en-US" sz="1200" dirty="0"/>
          </a:p>
        </p:txBody>
      </p:sp>
      <p:sp>
        <p:nvSpPr>
          <p:cNvPr id="19" name="Shape 17"/>
          <p:cNvSpPr/>
          <p:nvPr/>
        </p:nvSpPr>
        <p:spPr>
          <a:xfrm>
            <a:off x="10187970" y="4019520"/>
            <a:ext cx="0" cy="171450"/>
          </a:xfrm>
          <a:prstGeom prst="line">
            <a:avLst/>
          </a:prstGeom>
          <a:noFill/>
          <a:ln w="25400">
            <a:solidFill>
              <a:srgbClr val="E6E6E6"/>
            </a:solidFill>
            <a:prstDash val="solid"/>
          </a:ln>
        </p:spPr>
      </p:sp>
      <p:sp>
        <p:nvSpPr>
          <p:cNvPr id="20" name="Shape 18"/>
          <p:cNvSpPr/>
          <p:nvPr/>
        </p:nvSpPr>
        <p:spPr>
          <a:xfrm>
            <a:off x="1047720" y="4190970"/>
            <a:ext cx="10096530" cy="609630"/>
          </a:xfrm>
          <a:prstGeom prst="roundRect">
            <a:avLst>
              <a:gd name="adj" fmla="val 25004"/>
            </a:avLst>
          </a:prstGeom>
          <a:solidFill>
            <a:srgbClr val="FF8431"/>
          </a:solidFill>
          <a:ln/>
          <a:effectLst>
            <a:outerShdw sx="100000" sy="100000" kx="0" ky="0" algn="bl" rotWithShape="0" blurRad="203200" dist="50800" dir="5400000">
              <a:srgbClr val="FF8431">
                <a:alpha val="40000"/>
              </a:srgbClr>
            </a:outerShdw>
          </a:effectLst>
        </p:spPr>
      </p:sp>
      <p:sp>
        <p:nvSpPr>
          <p:cNvPr id="21" name="Text 19"/>
          <p:cNvSpPr/>
          <p:nvPr/>
        </p:nvSpPr>
        <p:spPr>
          <a:xfrm>
            <a:off x="1047720" y="4190970"/>
            <a:ext cx="10096530" cy="609630"/>
          </a:xfrm>
          <a:prstGeom prst="rect">
            <a:avLst/>
          </a:prstGeom>
          <a:noFill/>
          <a:ln/>
        </p:spPr>
        <p:txBody>
          <a:bodyPr wrap="square" lIns="0" tIns="0" rIns="0" bIns="0" rtlCol="0" anchor="ctr"/>
          <a:lstStyle/>
          <a:p>
            <a:pPr algn="ctr" indent="0" marL="0">
              <a:buNone/>
            </a:pPr>
            <a:r>
              <a:rPr lang="en-US" sz="1800" b="1" dirty="0">
                <a:solidFill>
                  <a:srgbClr val="FFFFFF"/>
                </a:solidFill>
                <a:latin typeface="Bricolage Grotesque" pitchFamily="34" charset="0"/>
                <a:ea typeface="Bricolage Grotesque" pitchFamily="34" charset="-122"/>
                <a:cs typeface="Bricolage Grotesque" pitchFamily="34" charset="-120"/>
              </a:rPr>
              <a:t>Alfred Core  —  one engine, one memory, every function</a:t>
            </a:r>
            <a:endParaRPr lang="en-US" sz="1800" dirty="0"/>
          </a:p>
        </p:txBody>
      </p:sp>
      <p:sp>
        <p:nvSpPr>
          <p:cNvPr id="22" name="Text 20"/>
          <p:cNvSpPr/>
          <p:nvPr/>
        </p:nvSpPr>
        <p:spPr>
          <a:xfrm>
            <a:off x="1047720" y="4972050"/>
            <a:ext cx="10096530" cy="285750"/>
          </a:xfrm>
          <a:prstGeom prst="rect">
            <a:avLst/>
          </a:prstGeom>
          <a:noFill/>
          <a:ln/>
        </p:spPr>
        <p:txBody>
          <a:bodyPr wrap="square" lIns="0" tIns="0" rIns="0" bIns="0" rtlCol="0" anchor="t"/>
          <a:lstStyle/>
          <a:p>
            <a:pPr algn="ctr" indent="0" marL="0">
              <a:buNone/>
            </a:pPr>
            <a:r>
              <a:rPr lang="en-US" sz="1250" dirty="0">
                <a:solidFill>
                  <a:srgbClr val="6B6B78"/>
                </a:solidFill>
                <a:latin typeface="Plus Jakarta Sans" pitchFamily="34" charset="0"/>
                <a:ea typeface="Plus Jakarta Sans" pitchFamily="34" charset="-122"/>
                <a:cs typeface="Plus Jakarta Sans" pitchFamily="34" charset="-120"/>
              </a:rPr>
              <a:t>Alfred Core doesn't replace your tools. It makes them work together.</a:t>
            </a:r>
            <a:endParaRPr lang="en-US" sz="1250" dirty="0"/>
          </a:p>
        </p:txBody>
      </p:sp>
      <p:sp>
        <p:nvSpPr>
          <p:cNvPr id="23" name="Text 21"/>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THE MODULES</a:t>
            </a:r>
            <a:endParaRPr lang="en-US" sz="1100" dirty="0"/>
          </a:p>
        </p:txBody>
      </p:sp>
      <p:sp>
        <p:nvSpPr>
          <p:cNvPr id="3" name="Text 1"/>
          <p:cNvSpPr/>
          <p:nvPr/>
        </p:nvSpPr>
        <p:spPr>
          <a:xfrm>
            <a:off x="1047720" y="1104870"/>
            <a:ext cx="10096530" cy="533370"/>
          </a:xfrm>
          <a:prstGeom prst="rect">
            <a:avLst/>
          </a:prstGeom>
          <a:noFill/>
          <a:ln/>
        </p:spPr>
        <p:txBody>
          <a:bodyPr wrap="square" lIns="0" tIns="0" rIns="0" bIns="0" rtlCol="0" anchor="t"/>
          <a:lstStyle/>
          <a:p>
            <a:pPr algn="l" indent="0" marL="0">
              <a:buNone/>
            </a:pPr>
            <a:r>
              <a:rPr lang="en-US" sz="3400" b="1" spc="-60" kern="0" dirty="0">
                <a:solidFill>
                  <a:srgbClr val="02021E"/>
                </a:solidFill>
                <a:latin typeface="Bricolage Grotesque" pitchFamily="34" charset="0"/>
                <a:ea typeface="Bricolage Grotesque" pitchFamily="34" charset="-122"/>
                <a:cs typeface="Bricolage Grotesque" pitchFamily="34" charset="-120"/>
              </a:rPr>
              <a:t>Five modules. One engine, one memory.</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47720" y="1962120"/>
          <a:ext cx="10096530" cy="914400"/>
        </p:xfrm>
        <a:graphic>
          <a:graphicData uri="http://schemas.openxmlformats.org/drawingml/2006/table">
            <a:tbl>
              <a:tblPr/>
              <a:tblGrid>
                <a:gridCol w="3619470"/>
                <a:gridCol w="6476970"/>
              </a:tblGrid>
              <a:tr h="361920">
                <a:tc>
                  <a:txBody>
                    <a:bodyPr/>
                    <a:lstStyle/>
                    <a:p>
                      <a:pPr indent="0" marL="0">
                        <a:buNone/>
                      </a:pPr>
                      <a:r>
                        <a:rPr lang="en-US" sz="1000" b="1" spc="60" kern="0" dirty="0">
                          <a:solidFill>
                            <a:srgbClr val="6B6B78"/>
                          </a:solidFill>
                          <a:latin typeface="Plus Jakarta Sans" pitchFamily="34" charset="0"/>
                          <a:ea typeface="Plus Jakarta Sans" pitchFamily="34" charset="-122"/>
                          <a:cs typeface="Plus Jakarta Sans" pitchFamily="34" charset="-120"/>
                        </a:rPr>
                        <a:t>MODULE</a:t>
                      </a:r>
                      <a:endParaRPr lang="en-US" sz="1000" dirty="0">
                        <a:latin typeface="Plus Jakarta Sans" charset="0"/>
                        <a:ea typeface="Plus Jakarta Sans" charset="0"/>
                        <a:cs typeface="Plus Jakarta Sans" charset="0"/>
                      </a:endParaRPr>
                    </a:p>
                  </a:txBody>
                  <a:tcPr marL="152400" marR="152400" marT="101600" marB="1016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000" b="1" spc="60" kern="0" dirty="0">
                          <a:solidFill>
                            <a:srgbClr val="6B6B78"/>
                          </a:solidFill>
                          <a:latin typeface="Plus Jakarta Sans" pitchFamily="34" charset="0"/>
                          <a:ea typeface="Plus Jakarta Sans" pitchFamily="34" charset="-122"/>
                          <a:cs typeface="Plus Jakarta Sans" pitchFamily="34" charset="-120"/>
                        </a:rPr>
                        <a:t>INTELLIGENCE FOCUS</a:t>
                      </a:r>
                      <a:endParaRPr lang="en-US" sz="1000" dirty="0">
                        <a:latin typeface="Plus Jakarta Sans" charset="0"/>
                        <a:ea typeface="Plus Jakarta Sans" charset="0"/>
                        <a:cs typeface="Plus Jakarta Sans" charset="0"/>
                      </a:endParaRPr>
                    </a:p>
                  </a:txBody>
                  <a:tcPr marL="152400" marR="152400" marT="101600" marB="1016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76220">
                <a:tc>
                  <a:txBody>
                    <a:bodyPr/>
                    <a:lstStyle/>
                    <a:p>
                      <a:pPr indent="0" marL="0">
                        <a:buNone/>
                      </a:pPr>
                      <a:r>
                        <a:rPr lang="en-US" sz="1300" b="1" dirty="0">
                          <a:solidFill>
                            <a:srgbClr val="02021E"/>
                          </a:solidFill>
                          <a:latin typeface="Plus Jakarta Sans" pitchFamily="34" charset="0"/>
                          <a:ea typeface="Plus Jakarta Sans" pitchFamily="34" charset="-122"/>
                          <a:cs typeface="Plus Jakarta Sans" pitchFamily="34" charset="-120"/>
                        </a:rPr>
                        <a:t>Alfred for Marketing</a:t>
                      </a:r>
                      <a:endParaRPr lang="en-US" sz="130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dirty="0">
                          <a:solidFill>
                            <a:srgbClr val="505050"/>
                          </a:solidFill>
                          <a:latin typeface="Plus Jakarta Sans" pitchFamily="34" charset="0"/>
                          <a:ea typeface="Plus Jakarta Sans" pitchFamily="34" charset="-122"/>
                          <a:cs typeface="Plus Jakarta Sans" pitchFamily="34" charset="-120"/>
                        </a:rPr>
                        <a:t>Spend optimisation, creative intelligence, brand visibility</a:t>
                      </a:r>
                      <a:endParaRPr lang="en-US" sz="125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76220">
                <a:tc>
                  <a:txBody>
                    <a:bodyPr/>
                    <a:lstStyle/>
                    <a:p>
                      <a:pPr indent="0" marL="0">
                        <a:buNone/>
                      </a:pPr>
                      <a:r>
                        <a:rPr lang="en-US" sz="1300" b="1" dirty="0">
                          <a:solidFill>
                            <a:srgbClr val="02021E"/>
                          </a:solidFill>
                          <a:latin typeface="Plus Jakarta Sans" pitchFamily="34" charset="0"/>
                          <a:ea typeface="Plus Jakarta Sans" pitchFamily="34" charset="-122"/>
                          <a:cs typeface="Plus Jakarta Sans" pitchFamily="34" charset="-120"/>
                        </a:rPr>
                        <a:t>Alfred for Sales</a:t>
                      </a:r>
                      <a:endParaRPr lang="en-US" sz="130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dirty="0">
                          <a:solidFill>
                            <a:srgbClr val="505050"/>
                          </a:solidFill>
                          <a:latin typeface="Plus Jakarta Sans" pitchFamily="34" charset="0"/>
                          <a:ea typeface="Plus Jakarta Sans" pitchFamily="34" charset="-122"/>
                          <a:cs typeface="Plus Jakarta Sans" pitchFamily="34" charset="-120"/>
                        </a:rPr>
                        <a:t>Pipeline health, deal patterns, coaching</a:t>
                      </a:r>
                      <a:endParaRPr lang="en-US" sz="125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76220">
                <a:tc>
                  <a:txBody>
                    <a:bodyPr/>
                    <a:lstStyle/>
                    <a:p>
                      <a:pPr indent="0" marL="0">
                        <a:buNone/>
                      </a:pPr>
                      <a:r>
                        <a:rPr lang="en-US" sz="1300" b="1" dirty="0">
                          <a:solidFill>
                            <a:srgbClr val="02021E"/>
                          </a:solidFill>
                          <a:latin typeface="Plus Jakarta Sans" pitchFamily="34" charset="0"/>
                          <a:ea typeface="Plus Jakarta Sans" pitchFamily="34" charset="-122"/>
                          <a:cs typeface="Plus Jakarta Sans" pitchFamily="34" charset="-120"/>
                        </a:rPr>
                        <a:t>Alfred for Finance</a:t>
                      </a:r>
                      <a:endParaRPr lang="en-US" sz="130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dirty="0">
                          <a:solidFill>
                            <a:srgbClr val="505050"/>
                          </a:solidFill>
                          <a:latin typeface="Plus Jakarta Sans" pitchFamily="34" charset="0"/>
                          <a:ea typeface="Plus Jakarta Sans" pitchFamily="34" charset="-122"/>
                          <a:cs typeface="Plus Jakarta Sans" pitchFamily="34" charset="-120"/>
                        </a:rPr>
                        <a:t>Spend efficiency, forecasting</a:t>
                      </a:r>
                      <a:endParaRPr lang="en-US" sz="125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76220">
                <a:tc>
                  <a:txBody>
                    <a:bodyPr/>
                    <a:lstStyle/>
                    <a:p>
                      <a:pPr indent="0" marL="0">
                        <a:buNone/>
                      </a:pPr>
                      <a:r>
                        <a:rPr lang="en-US" sz="1300" b="1" dirty="0">
                          <a:solidFill>
                            <a:srgbClr val="02021E"/>
                          </a:solidFill>
                          <a:latin typeface="Plus Jakarta Sans" pitchFamily="34" charset="0"/>
                          <a:ea typeface="Plus Jakarta Sans" pitchFamily="34" charset="-122"/>
                          <a:cs typeface="Plus Jakarta Sans" pitchFamily="34" charset="-120"/>
                        </a:rPr>
                        <a:t>Alfred for Operations</a:t>
                      </a:r>
                      <a:endParaRPr lang="en-US" sz="130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dirty="0">
                          <a:solidFill>
                            <a:srgbClr val="505050"/>
                          </a:solidFill>
                          <a:latin typeface="Plus Jakarta Sans" pitchFamily="34" charset="0"/>
                          <a:ea typeface="Plus Jakarta Sans" pitchFamily="34" charset="-122"/>
                          <a:cs typeface="Plus Jakarta Sans" pitchFamily="34" charset="-120"/>
                        </a:rPr>
                        <a:t>Process health, capacity planning</a:t>
                      </a:r>
                      <a:endParaRPr lang="en-US" sz="125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76220">
                <a:tc>
                  <a:txBody>
                    <a:bodyPr/>
                    <a:lstStyle/>
                    <a:p>
                      <a:pPr indent="0" marL="0">
                        <a:buNone/>
                      </a:pPr>
                      <a:r>
                        <a:rPr lang="en-US" sz="1300" b="1" dirty="0">
                          <a:solidFill>
                            <a:srgbClr val="02021E"/>
                          </a:solidFill>
                          <a:latin typeface="Plus Jakarta Sans" pitchFamily="34" charset="0"/>
                          <a:ea typeface="Plus Jakarta Sans" pitchFamily="34" charset="-122"/>
                          <a:cs typeface="Plus Jakarta Sans" pitchFamily="34" charset="-120"/>
                        </a:rPr>
                        <a:t>Alfred for CEO / Founder</a:t>
                      </a:r>
                      <a:endParaRPr lang="en-US" sz="130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50" dirty="0">
                          <a:solidFill>
                            <a:srgbClr val="505050"/>
                          </a:solidFill>
                          <a:latin typeface="Plus Jakarta Sans" pitchFamily="34" charset="0"/>
                          <a:ea typeface="Plus Jakarta Sans" pitchFamily="34" charset="-122"/>
                          <a:cs typeface="Plus Jakarta Sans" pitchFamily="34" charset="-120"/>
                        </a:rPr>
                        <a:t>Whole-business view, strategic alignment</a:t>
                      </a:r>
                      <a:endParaRPr lang="en-US" sz="1250" dirty="0">
                        <a:latin typeface="Plus Jakarta Sans" charset="0"/>
                        <a:ea typeface="Plus Jakarta Sans" charset="0"/>
                        <a:cs typeface="Plus Jakarta Sans" charset="0"/>
                      </a:endParaRPr>
                    </a:p>
                  </a:txBody>
                  <a:tcPr marL="152400" marR="152400" marT="127000" marB="1270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bl>
          </a:graphicData>
        </a:graphic>
      </p:graphicFrame>
      <p:sp>
        <p:nvSpPr>
          <p:cNvPr id="5" name="Text 2"/>
          <p:cNvSpPr/>
          <p:nvPr/>
        </p:nvSpPr>
        <p:spPr>
          <a:xfrm>
            <a:off x="1047720" y="5295930"/>
            <a:ext cx="10096530" cy="381030"/>
          </a:xfrm>
          <a:prstGeom prst="rect">
            <a:avLst/>
          </a:prstGeom>
          <a:noFill/>
          <a:ln/>
        </p:spPr>
        <p:txBody>
          <a:bodyPr wrap="square" lIns="0" tIns="0" rIns="0" bIns="0" rtlCol="0" anchor="t"/>
          <a:lstStyle/>
          <a:p>
            <a:pPr algn="l" indent="0" marL="0">
              <a:lnSpc>
                <a:spcPct val="135000"/>
              </a:lnSpc>
              <a:buNone/>
            </a:pPr>
            <a:r>
              <a:rPr lang="en-US" sz="1250" dirty="0">
                <a:solidFill>
                  <a:srgbClr val="6B6B78"/>
                </a:solidFill>
                <a:latin typeface="Plus Jakarta Sans" pitchFamily="34" charset="0"/>
                <a:ea typeface="Plus Jakarta Sans" pitchFamily="34" charset="-122"/>
                <a:cs typeface="Plus Jakarta Sans" pitchFamily="34" charset="-120"/>
              </a:rPr>
              <a:t>Each module is a specialised agent network. Together, they give every leader the same depth of intelligence in their own domain.</a:t>
            </a:r>
            <a:endParaRPr lang="en-US" sz="1250" dirty="0"/>
          </a:p>
        </p:txBody>
      </p:sp>
      <p:sp>
        <p:nvSpPr>
          <p:cNvPr id="6" name="Text 3"/>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47720" y="838230"/>
            <a:ext cx="9334470" cy="209580"/>
          </a:xfrm>
          <a:prstGeom prst="rect">
            <a:avLst/>
          </a:prstGeom>
          <a:noFill/>
          <a:ln/>
        </p:spPr>
        <p:txBody>
          <a:bodyPr wrap="square" lIns="0" tIns="0" rIns="0" bIns="0" rtlCol="0" anchor="ctr"/>
          <a:lstStyle/>
          <a:p>
            <a:pPr algn="l" indent="0" marL="0">
              <a:buNone/>
            </a:pPr>
            <a:r>
              <a:rPr lang="en-US" sz="1100" b="1" spc="160" kern="0" dirty="0">
                <a:solidFill>
                  <a:srgbClr val="C9C9FF"/>
                </a:solidFill>
                <a:latin typeface="Plus Jakarta Sans" pitchFamily="34" charset="0"/>
                <a:ea typeface="Plus Jakarta Sans" pitchFamily="34" charset="-122"/>
                <a:cs typeface="Plus Jakarta Sans" pitchFamily="34" charset="-120"/>
              </a:rPr>
              <a:t>THE ORGANISATIONAL BRAIN · VISION</a:t>
            </a:r>
            <a:endParaRPr lang="en-US" sz="1100" dirty="0"/>
          </a:p>
        </p:txBody>
      </p:sp>
      <p:sp>
        <p:nvSpPr>
          <p:cNvPr id="3" name="Text 1"/>
          <p:cNvSpPr/>
          <p:nvPr/>
        </p:nvSpPr>
        <p:spPr>
          <a:xfrm>
            <a:off x="1047720" y="1066830"/>
            <a:ext cx="9620220" cy="952530"/>
          </a:xfrm>
          <a:prstGeom prst="rect">
            <a:avLst/>
          </a:prstGeom>
          <a:noFill/>
          <a:ln/>
        </p:spPr>
        <p:txBody>
          <a:bodyPr wrap="square" lIns="0" tIns="0" rIns="0" bIns="0" rtlCol="0" anchor="t"/>
          <a:lstStyle/>
          <a:p>
            <a:pPr algn="l" indent="0" marL="0">
              <a:lnSpc>
                <a:spcPct val="106000"/>
              </a:lnSpc>
              <a:buNone/>
            </a:pPr>
            <a:r>
              <a:rPr lang="en-US" sz="3000" b="1" spc="-50" kern="0" dirty="0">
                <a:solidFill>
                  <a:srgbClr val="FFFFFF"/>
                </a:solidFill>
                <a:latin typeface="Bricolage Grotesque" pitchFamily="34" charset="0"/>
                <a:ea typeface="Bricolage Grotesque" pitchFamily="34" charset="-122"/>
                <a:cs typeface="Bricolage Grotesque" pitchFamily="34" charset="-120"/>
              </a:rPr>
              <a:t>An organisation memory every function reads from and writes to.</a:t>
            </a:r>
            <a:endParaRPr lang="en-US" sz="3000" dirty="0"/>
          </a:p>
        </p:txBody>
      </p:sp>
      <p:sp>
        <p:nvSpPr>
          <p:cNvPr id="4" name="Shape 2"/>
          <p:cNvSpPr/>
          <p:nvPr/>
        </p:nvSpPr>
        <p:spPr>
          <a:xfrm>
            <a:off x="1047720" y="2400300"/>
            <a:ext cx="3209910" cy="2381280"/>
          </a:xfrm>
          <a:prstGeom prst="roundRect">
            <a:avLst>
              <a:gd name="adj" fmla="val 9600"/>
            </a:avLst>
          </a:prstGeom>
          <a:solidFill>
            <a:srgbClr val="15152E"/>
          </a:solidFill>
          <a:ln/>
        </p:spPr>
      </p:sp>
      <p:sp>
        <p:nvSpPr>
          <p:cNvPr id="5" name="Shape 3"/>
          <p:cNvSpPr/>
          <p:nvPr/>
        </p:nvSpPr>
        <p:spPr>
          <a:xfrm>
            <a:off x="1276320" y="2628900"/>
            <a:ext cx="419070" cy="419070"/>
          </a:xfrm>
          <a:prstGeom prst="roundRect">
            <a:avLst>
              <a:gd name="adj" fmla="val 27275"/>
            </a:avLst>
          </a:prstGeom>
          <a:solidFill>
            <a:srgbClr val="2A2A48"/>
          </a:solidFill>
          <a:ln/>
        </p:spPr>
      </p:sp>
      <p:pic>
        <p:nvPicPr>
          <p:cNvPr id="6" name="Image 0" descr="assets/icons/audit-log-white.png">    </p:cNvPr>
          <p:cNvPicPr>
            <a:picLocks noChangeAspect="1"/>
          </p:cNvPicPr>
          <p:nvPr/>
        </p:nvPicPr>
        <p:blipFill>
          <a:blip r:embed="rId2"/>
          <a:stretch>
            <a:fillRect/>
          </a:stretch>
        </p:blipFill>
        <p:spPr>
          <a:xfrm>
            <a:off x="1381110" y="2733690"/>
            <a:ext cx="209580" cy="209580"/>
          </a:xfrm>
          <a:prstGeom prst="rect">
            <a:avLst/>
          </a:prstGeom>
        </p:spPr>
      </p:pic>
      <p:sp>
        <p:nvSpPr>
          <p:cNvPr id="7" name="Text 4"/>
          <p:cNvSpPr/>
          <p:nvPr/>
        </p:nvSpPr>
        <p:spPr>
          <a:xfrm>
            <a:off x="1276320" y="3181380"/>
            <a:ext cx="2752710" cy="476220"/>
          </a:xfrm>
          <a:prstGeom prst="rect">
            <a:avLst/>
          </a:prstGeom>
          <a:noFill/>
          <a:ln/>
        </p:spPr>
        <p:txBody>
          <a:bodyPr wrap="square" lIns="0" tIns="0" rIns="0" bIns="0" rtlCol="0" anchor="t"/>
          <a:lstStyle/>
          <a:p>
            <a:pPr algn="l" indent="0" marL="0">
              <a:lnSpc>
                <a:spcPct val="105000"/>
              </a:lnSpc>
              <a:buNone/>
            </a:pPr>
            <a:r>
              <a:rPr lang="en-US" sz="1600" b="1" spc="-20" kern="0" dirty="0">
                <a:solidFill>
                  <a:srgbClr val="FFFFFF"/>
                </a:solidFill>
                <a:latin typeface="Bricolage Grotesque" pitchFamily="34" charset="0"/>
                <a:ea typeface="Bricolage Grotesque" pitchFamily="34" charset="-122"/>
                <a:cs typeface="Bricolage Grotesque" pitchFamily="34" charset="-120"/>
              </a:rPr>
              <a:t>Unified Institutional Memory</a:t>
            </a:r>
            <a:endParaRPr lang="en-US" sz="1600" dirty="0"/>
          </a:p>
        </p:txBody>
      </p:sp>
      <p:sp>
        <p:nvSpPr>
          <p:cNvPr id="8" name="Text 5"/>
          <p:cNvSpPr/>
          <p:nvPr/>
        </p:nvSpPr>
        <p:spPr>
          <a:xfrm>
            <a:off x="1276320" y="3657600"/>
            <a:ext cx="2752710" cy="1047720"/>
          </a:xfrm>
          <a:prstGeom prst="rect">
            <a:avLst/>
          </a:prstGeom>
          <a:noFill/>
          <a:ln/>
        </p:spPr>
        <p:txBody>
          <a:bodyPr wrap="square" lIns="0" tIns="0" rIns="0" bIns="0" rtlCol="0" anchor="t"/>
          <a:lstStyle/>
          <a:p>
            <a:pPr algn="l" indent="0" marL="0">
              <a:lnSpc>
                <a:spcPct val="136000"/>
              </a:lnSpc>
              <a:buNone/>
            </a:pPr>
            <a:r>
              <a:rPr lang="en-US" sz="1150" dirty="0">
                <a:solidFill>
                  <a:srgbClr val="C9C9FF"/>
                </a:solidFill>
                <a:latin typeface="Plus Jakarta Sans" pitchFamily="34" charset="0"/>
                <a:ea typeface="Plus Jakarta Sans" pitchFamily="34" charset="-122"/>
                <a:cs typeface="Plus Jakarta Sans" pitchFamily="34" charset="-120"/>
              </a:rPr>
              <a:t>Every outcome, every pattern, every decision — captured permanently and queried before every recommendation.</a:t>
            </a:r>
            <a:endParaRPr lang="en-US" sz="1150" dirty="0"/>
          </a:p>
        </p:txBody>
      </p:sp>
      <p:sp>
        <p:nvSpPr>
          <p:cNvPr id="9" name="Shape 6"/>
          <p:cNvSpPr/>
          <p:nvPr/>
        </p:nvSpPr>
        <p:spPr>
          <a:xfrm>
            <a:off x="4486321" y="2400300"/>
            <a:ext cx="3209910" cy="2381280"/>
          </a:xfrm>
          <a:prstGeom prst="roundRect">
            <a:avLst>
              <a:gd name="adj" fmla="val 9600"/>
            </a:avLst>
          </a:prstGeom>
          <a:solidFill>
            <a:srgbClr val="15152E"/>
          </a:solidFill>
          <a:ln/>
        </p:spPr>
      </p:sp>
      <p:sp>
        <p:nvSpPr>
          <p:cNvPr id="10" name="Shape 7"/>
          <p:cNvSpPr/>
          <p:nvPr/>
        </p:nvSpPr>
        <p:spPr>
          <a:xfrm>
            <a:off x="4714921" y="2628900"/>
            <a:ext cx="419070" cy="419070"/>
          </a:xfrm>
          <a:prstGeom prst="roundRect">
            <a:avLst>
              <a:gd name="adj" fmla="val 27275"/>
            </a:avLst>
          </a:prstGeom>
          <a:solidFill>
            <a:srgbClr val="2A2A48"/>
          </a:solidFill>
          <a:ln/>
        </p:spPr>
      </p:sp>
      <p:pic>
        <p:nvPicPr>
          <p:cNvPr id="11" name="Image 1" descr="assets/icons/web-stack-connected-white.png">    </p:cNvPr>
          <p:cNvPicPr>
            <a:picLocks noChangeAspect="1"/>
          </p:cNvPicPr>
          <p:nvPr/>
        </p:nvPicPr>
        <p:blipFill>
          <a:blip r:embed="rId3"/>
          <a:stretch>
            <a:fillRect/>
          </a:stretch>
        </p:blipFill>
        <p:spPr>
          <a:xfrm>
            <a:off x="4819620" y="2733690"/>
            <a:ext cx="209580" cy="209580"/>
          </a:xfrm>
          <a:prstGeom prst="rect">
            <a:avLst/>
          </a:prstGeom>
        </p:spPr>
      </p:pic>
      <p:sp>
        <p:nvSpPr>
          <p:cNvPr id="12" name="Text 8"/>
          <p:cNvSpPr/>
          <p:nvPr/>
        </p:nvSpPr>
        <p:spPr>
          <a:xfrm>
            <a:off x="4714921" y="3181380"/>
            <a:ext cx="2752710" cy="476220"/>
          </a:xfrm>
          <a:prstGeom prst="rect">
            <a:avLst/>
          </a:prstGeom>
          <a:noFill/>
          <a:ln/>
        </p:spPr>
        <p:txBody>
          <a:bodyPr wrap="square" lIns="0" tIns="0" rIns="0" bIns="0" rtlCol="0" anchor="t"/>
          <a:lstStyle/>
          <a:p>
            <a:pPr algn="l" indent="0" marL="0">
              <a:lnSpc>
                <a:spcPct val="105000"/>
              </a:lnSpc>
              <a:buNone/>
            </a:pPr>
            <a:r>
              <a:rPr lang="en-US" sz="1600" b="1" spc="-20" kern="0" dirty="0">
                <a:solidFill>
                  <a:srgbClr val="FFFFFF"/>
                </a:solidFill>
                <a:latin typeface="Bricolage Grotesque" pitchFamily="34" charset="0"/>
                <a:ea typeface="Bricolage Grotesque" pitchFamily="34" charset="-122"/>
                <a:cs typeface="Bricolage Grotesque" pitchFamily="34" charset="-120"/>
              </a:rPr>
              <a:t>Cross-Module Signal Router</a:t>
            </a:r>
            <a:endParaRPr lang="en-US" sz="1600" dirty="0"/>
          </a:p>
        </p:txBody>
      </p:sp>
      <p:sp>
        <p:nvSpPr>
          <p:cNvPr id="13" name="Text 9"/>
          <p:cNvSpPr/>
          <p:nvPr/>
        </p:nvSpPr>
        <p:spPr>
          <a:xfrm>
            <a:off x="4714921" y="3657600"/>
            <a:ext cx="2752710" cy="1047720"/>
          </a:xfrm>
          <a:prstGeom prst="rect">
            <a:avLst/>
          </a:prstGeom>
          <a:noFill/>
          <a:ln/>
        </p:spPr>
        <p:txBody>
          <a:bodyPr wrap="square" lIns="0" tIns="0" rIns="0" bIns="0" rtlCol="0" anchor="t"/>
          <a:lstStyle/>
          <a:p>
            <a:pPr algn="l" indent="0" marL="0">
              <a:lnSpc>
                <a:spcPct val="136000"/>
              </a:lnSpc>
              <a:buNone/>
            </a:pPr>
            <a:r>
              <a:rPr lang="en-US" sz="1150" dirty="0">
                <a:solidFill>
                  <a:srgbClr val="C9C9FF"/>
                </a:solidFill>
                <a:latin typeface="Plus Jakarta Sans" pitchFamily="34" charset="0"/>
                <a:ea typeface="Plus Jakarta Sans" pitchFamily="34" charset="-122"/>
                <a:cs typeface="Plus Jakarta Sans" pitchFamily="34" charset="-120"/>
              </a:rPr>
              <a:t>Routes a signal from one function to every other function it affects — in real time.</a:t>
            </a:r>
            <a:endParaRPr lang="en-US" sz="1150" dirty="0"/>
          </a:p>
        </p:txBody>
      </p:sp>
      <p:sp>
        <p:nvSpPr>
          <p:cNvPr id="14" name="Shape 10"/>
          <p:cNvSpPr/>
          <p:nvPr/>
        </p:nvSpPr>
        <p:spPr>
          <a:xfrm>
            <a:off x="7924830" y="2400300"/>
            <a:ext cx="3209910" cy="2381280"/>
          </a:xfrm>
          <a:prstGeom prst="roundRect">
            <a:avLst>
              <a:gd name="adj" fmla="val 9600"/>
            </a:avLst>
          </a:prstGeom>
          <a:solidFill>
            <a:srgbClr val="15152E"/>
          </a:solidFill>
          <a:ln/>
        </p:spPr>
      </p:sp>
      <p:sp>
        <p:nvSpPr>
          <p:cNvPr id="15" name="Shape 11"/>
          <p:cNvSpPr/>
          <p:nvPr/>
        </p:nvSpPr>
        <p:spPr>
          <a:xfrm>
            <a:off x="8153430" y="2628900"/>
            <a:ext cx="419070" cy="419070"/>
          </a:xfrm>
          <a:prstGeom prst="roundRect">
            <a:avLst>
              <a:gd name="adj" fmla="val 27275"/>
            </a:avLst>
          </a:prstGeom>
          <a:solidFill>
            <a:srgbClr val="2A2A48"/>
          </a:solidFill>
          <a:ln/>
        </p:spPr>
      </p:sp>
      <p:pic>
        <p:nvPicPr>
          <p:cNvPr id="16" name="Image 2" descr="assets/icons/web-clarity-white.png">    </p:cNvPr>
          <p:cNvPicPr>
            <a:picLocks noChangeAspect="1"/>
          </p:cNvPicPr>
          <p:nvPr/>
        </p:nvPicPr>
        <p:blipFill>
          <a:blip r:embed="rId4"/>
          <a:stretch>
            <a:fillRect/>
          </a:stretch>
        </p:blipFill>
        <p:spPr>
          <a:xfrm>
            <a:off x="8258221" y="2755087"/>
            <a:ext cx="209580" cy="166695"/>
          </a:xfrm>
          <a:prstGeom prst="rect">
            <a:avLst/>
          </a:prstGeom>
        </p:spPr>
      </p:pic>
      <p:sp>
        <p:nvSpPr>
          <p:cNvPr id="17" name="Text 12"/>
          <p:cNvSpPr/>
          <p:nvPr/>
        </p:nvSpPr>
        <p:spPr>
          <a:xfrm>
            <a:off x="8153430" y="3181380"/>
            <a:ext cx="2752710" cy="476220"/>
          </a:xfrm>
          <a:prstGeom prst="rect">
            <a:avLst/>
          </a:prstGeom>
          <a:noFill/>
          <a:ln/>
        </p:spPr>
        <p:txBody>
          <a:bodyPr wrap="square" lIns="0" tIns="0" rIns="0" bIns="0" rtlCol="0" anchor="t"/>
          <a:lstStyle/>
          <a:p>
            <a:pPr algn="l" indent="0" marL="0">
              <a:lnSpc>
                <a:spcPct val="105000"/>
              </a:lnSpc>
              <a:buNone/>
            </a:pPr>
            <a:r>
              <a:rPr lang="en-US" sz="1600" b="1" spc="-20" kern="0" dirty="0">
                <a:solidFill>
                  <a:srgbClr val="FFFFFF"/>
                </a:solidFill>
                <a:latin typeface="Bricolage Grotesque" pitchFamily="34" charset="0"/>
                <a:ea typeface="Bricolage Grotesque" pitchFamily="34" charset="-122"/>
                <a:cs typeface="Bricolage Grotesque" pitchFamily="34" charset="-120"/>
              </a:rPr>
              <a:t>Causal Reasoning Engine</a:t>
            </a:r>
            <a:endParaRPr lang="en-US" sz="1600" dirty="0"/>
          </a:p>
        </p:txBody>
      </p:sp>
      <p:sp>
        <p:nvSpPr>
          <p:cNvPr id="18" name="Text 13"/>
          <p:cNvSpPr/>
          <p:nvPr/>
        </p:nvSpPr>
        <p:spPr>
          <a:xfrm>
            <a:off x="8153430" y="3657600"/>
            <a:ext cx="2752710" cy="1047720"/>
          </a:xfrm>
          <a:prstGeom prst="rect">
            <a:avLst/>
          </a:prstGeom>
          <a:noFill/>
          <a:ln/>
        </p:spPr>
        <p:txBody>
          <a:bodyPr wrap="square" lIns="0" tIns="0" rIns="0" bIns="0" rtlCol="0" anchor="t"/>
          <a:lstStyle/>
          <a:p>
            <a:pPr algn="l" indent="0" marL="0">
              <a:lnSpc>
                <a:spcPct val="136000"/>
              </a:lnSpc>
              <a:buNone/>
            </a:pPr>
            <a:r>
              <a:rPr lang="en-US" sz="1150" dirty="0">
                <a:solidFill>
                  <a:srgbClr val="C9C9FF"/>
                </a:solidFill>
                <a:latin typeface="Plus Jakarta Sans" pitchFamily="34" charset="0"/>
                <a:ea typeface="Plus Jakarta Sans" pitchFamily="34" charset="-122"/>
                <a:cs typeface="Plus Jakarta Sans" pitchFamily="34" charset="-120"/>
              </a:rPr>
              <a:t>Traces not just what happened, but why — across functional boundaries.</a:t>
            </a:r>
            <a:endParaRPr lang="en-US" sz="1150" dirty="0"/>
          </a:p>
        </p:txBody>
      </p:sp>
      <p:sp>
        <p:nvSpPr>
          <p:cNvPr id="19" name="Text 14"/>
          <p:cNvSpPr/>
          <p:nvPr/>
        </p:nvSpPr>
        <p:spPr>
          <a:xfrm>
            <a:off x="1047720" y="5124480"/>
            <a:ext cx="9620220" cy="381030"/>
          </a:xfrm>
          <a:prstGeom prst="rect">
            <a:avLst/>
          </a:prstGeom>
          <a:noFill/>
          <a:ln/>
        </p:spPr>
        <p:txBody>
          <a:bodyPr wrap="square" lIns="0" tIns="0" rIns="0" bIns="0" rtlCol="0" anchor="t"/>
          <a:lstStyle/>
          <a:p>
            <a:pPr algn="l" indent="0" marL="0">
              <a:lnSpc>
                <a:spcPct val="140000"/>
              </a:lnSpc>
              <a:buNone/>
            </a:pPr>
            <a:r>
              <a:rPr lang="en-US" sz="1250" dirty="0">
                <a:solidFill>
                  <a:srgbClr val="C9C9FF"/>
                </a:solidFill>
                <a:latin typeface="Plus Jakarta Sans" pitchFamily="34" charset="0"/>
                <a:ea typeface="Plus Jakarta Sans" pitchFamily="34" charset="-122"/>
                <a:cs typeface="Plus Jakarta Sans" pitchFamily="34" charset="-120"/>
              </a:rPr>
              <a:t>Marketing and Sales are live today. Finance, Operations and the Founder's module extend the same memory as they come online.</a:t>
            </a:r>
            <a:endParaRPr lang="en-US" sz="1250" dirty="0"/>
          </a:p>
        </p:txBody>
      </p:sp>
      <p:pic>
        <p:nvPicPr>
          <p:cNvPr id="20" name="Image 3" descr="assets/alfred-logo-white.png">    </p:cNvPr>
          <p:cNvPicPr>
            <a:picLocks noChangeAspect="1"/>
          </p:cNvPicPr>
          <p:nvPr/>
        </p:nvPicPr>
        <p:blipFill>
          <a:blip r:embed="rId5"/>
          <a:stretch>
            <a:fillRect/>
          </a:stretch>
        </p:blipFill>
        <p:spPr>
          <a:xfrm>
            <a:off x="9886950" y="761970"/>
            <a:ext cx="1257300" cy="303124"/>
          </a:xfrm>
          <a:prstGeom prst="rect">
            <a:avLst/>
          </a:prstGeom>
        </p:spPr>
      </p:pic>
      <p:sp>
        <p:nvSpPr>
          <p:cNvPr id="21" name="Text 15"/>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8A8AA0"/>
                </a:solidFill>
                <a:latin typeface="Plus Jakarta Sans" pitchFamily="34" charset="0"/>
                <a:ea typeface="Plus Jakarta Sans" pitchFamily="34" charset="-122"/>
                <a:cs typeface="Plus Jakarta Sans"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THE MOAT</a:t>
            </a:r>
            <a:endParaRPr lang="en-US" sz="1100" dirty="0"/>
          </a:p>
        </p:txBody>
      </p:sp>
      <p:sp>
        <p:nvSpPr>
          <p:cNvPr id="3" name="Text 1"/>
          <p:cNvSpPr/>
          <p:nvPr/>
        </p:nvSpPr>
        <p:spPr>
          <a:xfrm>
            <a:off x="1047720" y="1104870"/>
            <a:ext cx="5715000" cy="1047720"/>
          </a:xfrm>
          <a:prstGeom prst="rect">
            <a:avLst/>
          </a:prstGeom>
          <a:noFill/>
          <a:ln/>
        </p:spPr>
        <p:txBody>
          <a:bodyPr wrap="square" lIns="0" tIns="0" rIns="0" bIns="0" rtlCol="0" anchor="t"/>
          <a:lstStyle/>
          <a:p>
            <a:pPr algn="l" indent="0" marL="0">
              <a:lnSpc>
                <a:spcPct val="104000"/>
              </a:lnSpc>
              <a:buNone/>
            </a:pPr>
            <a:r>
              <a:rPr lang="en-US" sz="3200" b="1" spc="-50" kern="0" dirty="0">
                <a:solidFill>
                  <a:srgbClr val="02021E"/>
                </a:solidFill>
                <a:latin typeface="Bricolage Grotesque" pitchFamily="34" charset="0"/>
                <a:ea typeface="Bricolage Grotesque" pitchFamily="34" charset="-122"/>
                <a:cs typeface="Bricolage Grotesque" pitchFamily="34" charset="-120"/>
              </a:rPr>
              <a:t>It gets sharper every month.</a:t>
            </a:r>
            <a:endParaRPr lang="en-US" sz="3200" dirty="0"/>
          </a:p>
        </p:txBody>
      </p:sp>
      <p:sp>
        <p:nvSpPr>
          <p:cNvPr id="4" name="Text 2"/>
          <p:cNvSpPr/>
          <p:nvPr/>
        </p:nvSpPr>
        <p:spPr>
          <a:xfrm>
            <a:off x="1047720" y="2343150"/>
            <a:ext cx="5715000" cy="1238280"/>
          </a:xfrm>
          <a:prstGeom prst="rect">
            <a:avLst/>
          </a:prstGeom>
          <a:noFill/>
          <a:ln/>
        </p:spPr>
        <p:txBody>
          <a:bodyPr wrap="square" lIns="0" tIns="0" rIns="0" bIns="0" rtlCol="0" anchor="t"/>
          <a:lstStyle/>
          <a:p>
            <a:pPr algn="l" indent="0" marL="0">
              <a:lnSpc>
                <a:spcPct val="148000"/>
              </a:lnSpc>
              <a:buNone/>
            </a:pPr>
            <a:r>
              <a:rPr lang="en-US" sz="1300" dirty="0">
                <a:solidFill>
                  <a:srgbClr val="505050"/>
                </a:solidFill>
                <a:latin typeface="Plus Jakarta Sans" pitchFamily="34" charset="0"/>
                <a:ea typeface="Plus Jakarta Sans" pitchFamily="34" charset="-122"/>
                <a:cs typeface="Plus Jakarta Sans" pitchFamily="34" charset="-120"/>
              </a:rPr>
              <a:t>Alfred gets sharper every month — not because the model changes, but because the memory does. After six months, Alfred holds six months of an organisation's specific patterns, outcomes, and decisions.</a:t>
            </a:r>
            <a:endParaRPr lang="en-US" sz="1300" dirty="0"/>
          </a:p>
        </p:txBody>
      </p:sp>
      <p:sp>
        <p:nvSpPr>
          <p:cNvPr id="5" name="Text 3"/>
          <p:cNvSpPr/>
          <p:nvPr/>
        </p:nvSpPr>
        <p:spPr>
          <a:xfrm>
            <a:off x="1047720" y="3810030"/>
            <a:ext cx="5715000" cy="1047720"/>
          </a:xfrm>
          <a:prstGeom prst="rect">
            <a:avLst/>
          </a:prstGeom>
          <a:noFill/>
          <a:ln/>
        </p:spPr>
        <p:txBody>
          <a:bodyPr wrap="square" lIns="0" tIns="0" rIns="0" bIns="0" rtlCol="0" anchor="t"/>
          <a:lstStyle/>
          <a:p>
            <a:pPr algn="l" indent="0" marL="0">
              <a:lnSpc>
                <a:spcPct val="148000"/>
              </a:lnSpc>
              <a:buNone/>
            </a:pPr>
            <a:r>
              <a:rPr lang="en-US" sz="1300" dirty="0">
                <a:solidFill>
                  <a:srgbClr val="505050"/>
                </a:solidFill>
                <a:latin typeface="Plus Jakarta Sans" pitchFamily="34" charset="0"/>
                <a:ea typeface="Plus Jakarta Sans" pitchFamily="34" charset="-122"/>
                <a:cs typeface="Plus Jakarta Sans" pitchFamily="34" charset="-120"/>
              </a:rPr>
              <a:t>A competitor starting fresh cannot hand a business back the context it took six months to build. The institutional memory you accumulate stays — and grows with you.</a:t>
            </a:r>
            <a:endParaRPr lang="en-US" sz="1300" dirty="0"/>
          </a:p>
        </p:txBody>
      </p:sp>
      <p:sp>
        <p:nvSpPr>
          <p:cNvPr id="6" name="Shape 4"/>
          <p:cNvSpPr/>
          <p:nvPr/>
        </p:nvSpPr>
        <p:spPr>
          <a:xfrm>
            <a:off x="7181880" y="1428750"/>
            <a:ext cx="3962370" cy="4095780"/>
          </a:xfrm>
          <a:prstGeom prst="roundRect">
            <a:avLst>
              <a:gd name="adj" fmla="val 7692"/>
            </a:avLst>
          </a:prstGeom>
          <a:solidFill>
            <a:srgbClr val="02021E"/>
          </a:solidFill>
          <a:ln/>
          <a:effectLst>
            <a:outerShdw sx="100000" sy="100000" kx="0" ky="0" algn="bl" rotWithShape="0" blurRad="32774128000000" dist="10241915000000" dir="19440000000000000">
              <a:srgbClr val="9CA3AF">
                <a:alpha val="160000000000000"/>
              </a:srgbClr>
            </a:outerShdw>
          </a:effectLst>
        </p:spPr>
      </p:sp>
      <p:sp>
        <p:nvSpPr>
          <p:cNvPr id="7" name="Text 5"/>
          <p:cNvSpPr/>
          <p:nvPr/>
        </p:nvSpPr>
        <p:spPr>
          <a:xfrm>
            <a:off x="7562820" y="1924080"/>
            <a:ext cx="3200400" cy="1047720"/>
          </a:xfrm>
          <a:prstGeom prst="rect">
            <a:avLst/>
          </a:prstGeom>
          <a:noFill/>
          <a:ln/>
        </p:spPr>
        <p:txBody>
          <a:bodyPr wrap="square" lIns="0" tIns="0" rIns="0" bIns="0" rtlCol="0" anchor="t"/>
          <a:lstStyle/>
          <a:p>
            <a:pPr algn="l" indent="0" marL="0">
              <a:buNone/>
            </a:pPr>
            <a:r>
              <a:rPr lang="en-US" sz="6400" b="1" spc="-200" kern="0" dirty="0">
                <a:solidFill>
                  <a:srgbClr val="FF8431"/>
                </a:solidFill>
                <a:latin typeface="Bricolage Grotesque" pitchFamily="34" charset="0"/>
                <a:ea typeface="Bricolage Grotesque" pitchFamily="34" charset="-122"/>
                <a:cs typeface="Bricolage Grotesque" pitchFamily="34" charset="-120"/>
              </a:rPr>
              <a:t>6 mo</a:t>
            </a:r>
            <a:endParaRPr lang="en-US" sz="6400" dirty="0"/>
          </a:p>
        </p:txBody>
      </p:sp>
      <p:sp>
        <p:nvSpPr>
          <p:cNvPr id="8" name="Text 6"/>
          <p:cNvSpPr/>
          <p:nvPr/>
        </p:nvSpPr>
        <p:spPr>
          <a:xfrm>
            <a:off x="7562820" y="3105120"/>
            <a:ext cx="3200400" cy="666780"/>
          </a:xfrm>
          <a:prstGeom prst="rect">
            <a:avLst/>
          </a:prstGeom>
          <a:noFill/>
          <a:ln/>
        </p:spPr>
        <p:txBody>
          <a:bodyPr wrap="square" lIns="0" tIns="0" rIns="0" bIns="0" rtlCol="0" anchor="t"/>
          <a:lstStyle/>
          <a:p>
            <a:pPr algn="l" indent="0" marL="0">
              <a:lnSpc>
                <a:spcPct val="125000"/>
              </a:lnSpc>
              <a:buNone/>
            </a:pPr>
            <a:r>
              <a:rPr lang="en-US" sz="1500" b="1" dirty="0">
                <a:solidFill>
                  <a:srgbClr val="FFFFFF"/>
                </a:solidFill>
                <a:latin typeface="Plus Jakarta Sans" pitchFamily="34" charset="0"/>
                <a:ea typeface="Plus Jakarta Sans" pitchFamily="34" charset="-122"/>
                <a:cs typeface="Plus Jakarta Sans" pitchFamily="34" charset="-120"/>
              </a:rPr>
              <a:t>of your organisation's patterns a competitor can't compress or copy</a:t>
            </a:r>
            <a:endParaRPr lang="en-US" sz="1500" dirty="0"/>
          </a:p>
        </p:txBody>
      </p:sp>
      <p:sp>
        <p:nvSpPr>
          <p:cNvPr id="9" name="Text 7"/>
          <p:cNvSpPr/>
          <p:nvPr/>
        </p:nvSpPr>
        <p:spPr>
          <a:xfrm>
            <a:off x="7562820" y="3867180"/>
            <a:ext cx="3200400" cy="1143000"/>
          </a:xfrm>
          <a:prstGeom prst="rect">
            <a:avLst/>
          </a:prstGeom>
          <a:noFill/>
          <a:ln/>
        </p:spPr>
        <p:txBody>
          <a:bodyPr wrap="square" lIns="0" tIns="0" rIns="0" bIns="0" rtlCol="0" anchor="t"/>
          <a:lstStyle/>
          <a:p>
            <a:pPr algn="l" indent="0" marL="0">
              <a:lnSpc>
                <a:spcPct val="142000"/>
              </a:lnSpc>
              <a:buNone/>
            </a:pPr>
            <a:r>
              <a:rPr lang="en-US" sz="1250" dirty="0">
                <a:solidFill>
                  <a:srgbClr val="C9C9FF"/>
                </a:solidFill>
                <a:latin typeface="Plus Jakarta Sans" pitchFamily="34" charset="0"/>
                <a:ea typeface="Plus Jakarta Sans" pitchFamily="34" charset="-122"/>
                <a:cs typeface="Plus Jakarta Sans" pitchFamily="34" charset="-120"/>
              </a:rPr>
              <a:t>The switching cost isn't the product — it's the institutional memory accumulated inside it.</a:t>
            </a:r>
            <a:endParaRPr lang="en-US" sz="1250" dirty="0"/>
          </a:p>
        </p:txBody>
      </p:sp>
      <p:sp>
        <p:nvSpPr>
          <p:cNvPr id="10" name="Text 8"/>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PROOF · FROM THE LIVE MODULE</a:t>
            </a:r>
            <a:endParaRPr lang="en-US" sz="1100" dirty="0"/>
          </a:p>
        </p:txBody>
      </p:sp>
      <p:sp>
        <p:nvSpPr>
          <p:cNvPr id="3" name="Text 1"/>
          <p:cNvSpPr/>
          <p:nvPr/>
        </p:nvSpPr>
        <p:spPr>
          <a:xfrm>
            <a:off x="1047720" y="1104870"/>
            <a:ext cx="10096530" cy="533370"/>
          </a:xfrm>
          <a:prstGeom prst="rect">
            <a:avLst/>
          </a:prstGeom>
          <a:noFill/>
          <a:ln/>
        </p:spPr>
        <p:txBody>
          <a:bodyPr wrap="square" lIns="0" tIns="0" rIns="0" bIns="0" rtlCol="0" anchor="t"/>
          <a:lstStyle/>
          <a:p>
            <a:pPr algn="l" indent="0" marL="0">
              <a:buNone/>
            </a:pPr>
            <a:r>
              <a:rPr lang="en-US" sz="3600" b="1" spc="-60" kern="0" dirty="0">
                <a:solidFill>
                  <a:srgbClr val="02021E"/>
                </a:solidFill>
                <a:latin typeface="Bricolage Grotesque" pitchFamily="34" charset="0"/>
                <a:ea typeface="Bricolage Grotesque" pitchFamily="34" charset="-122"/>
                <a:cs typeface="Bricolage Grotesque" pitchFamily="34" charset="-120"/>
              </a:rPr>
              <a:t>What changes with Alfred?</a:t>
            </a:r>
            <a:endParaRPr lang="en-US" sz="3600" dirty="0"/>
          </a:p>
        </p:txBody>
      </p:sp>
      <p:sp>
        <p:nvSpPr>
          <p:cNvPr id="4" name="Shape 2"/>
          <p:cNvSpPr/>
          <p:nvPr/>
        </p:nvSpPr>
        <p:spPr>
          <a:xfrm>
            <a:off x="1047720" y="2209830"/>
            <a:ext cx="2381280" cy="1904970"/>
          </a:xfrm>
          <a:prstGeom prst="roundRect">
            <a:avLst>
              <a:gd name="adj" fmla="val 12000"/>
            </a:avLst>
          </a:prstGeom>
          <a:solidFill>
            <a:srgbClr val="FFFFFF"/>
          </a:solidFill>
          <a:ln w="12700">
            <a:solidFill>
              <a:srgbClr val="E6E6E6"/>
            </a:solidFill>
            <a:prstDash val="solid"/>
          </a:ln>
          <a:effectLst>
            <a:outerShdw sx="100000" sy="100000" kx="0" ky="0" algn="bl" rotWithShape="0" blurRad="416231425600000000" dist="130072320500000000" dir="1.1664e+21">
              <a:srgbClr val="9CA3AF">
                <a:alpha val="16000000000000000000"/>
              </a:srgbClr>
            </a:outerShdw>
          </a:effectLst>
        </p:spPr>
      </p:sp>
      <p:sp>
        <p:nvSpPr>
          <p:cNvPr id="5" name="Text 3"/>
          <p:cNvSpPr/>
          <p:nvPr/>
        </p:nvSpPr>
        <p:spPr>
          <a:xfrm>
            <a:off x="1276320" y="2438430"/>
            <a:ext cx="2000250" cy="419070"/>
          </a:xfrm>
          <a:prstGeom prst="rect">
            <a:avLst/>
          </a:prstGeom>
          <a:noFill/>
          <a:ln/>
        </p:spPr>
        <p:txBody>
          <a:bodyPr wrap="square" lIns="0" tIns="0" rIns="0" bIns="0" rtlCol="0" anchor="t"/>
          <a:lstStyle/>
          <a:p>
            <a:pPr algn="l" indent="0" marL="0">
              <a:lnSpc>
                <a:spcPct val="120000"/>
              </a:lnSpc>
              <a:buNone/>
            </a:pPr>
            <a:r>
              <a:rPr lang="en-US" sz="1050" b="1" dirty="0">
                <a:solidFill>
                  <a:srgbClr val="6B6B78"/>
                </a:solidFill>
                <a:latin typeface="Plus Jakarta Sans" pitchFamily="34" charset="0"/>
                <a:ea typeface="Plus Jakarta Sans" pitchFamily="34" charset="-122"/>
                <a:cs typeface="Plus Jakarta Sans" pitchFamily="34" charset="-120"/>
              </a:rPr>
              <a:t>Faster decision cycles</a:t>
            </a:r>
            <a:endParaRPr lang="en-US" sz="1050" dirty="0"/>
          </a:p>
        </p:txBody>
      </p:sp>
      <p:sp>
        <p:nvSpPr>
          <p:cNvPr id="6" name="Text 4"/>
          <p:cNvSpPr/>
          <p:nvPr/>
        </p:nvSpPr>
        <p:spPr>
          <a:xfrm>
            <a:off x="1276320" y="2914650"/>
            <a:ext cx="2000250" cy="666780"/>
          </a:xfrm>
          <a:prstGeom prst="rect">
            <a:avLst/>
          </a:prstGeom>
          <a:noFill/>
          <a:ln/>
        </p:spPr>
        <p:txBody>
          <a:bodyPr wrap="square" lIns="0" tIns="0" rIns="0" bIns="0" rtlCol="0" anchor="t"/>
          <a:lstStyle/>
          <a:p>
            <a:pPr algn="l" indent="0" marL="0">
              <a:buNone/>
            </a:pPr>
            <a:r>
              <a:rPr lang="en-US" sz="4400" b="1" spc="-100" kern="0" dirty="0">
                <a:solidFill>
                  <a:srgbClr val="FF8431"/>
                </a:solidFill>
                <a:latin typeface="Bricolage Grotesque" pitchFamily="34" charset="0"/>
                <a:ea typeface="Bricolage Grotesque" pitchFamily="34" charset="-122"/>
                <a:cs typeface="Bricolage Grotesque" pitchFamily="34" charset="-120"/>
              </a:rPr>
              <a:t>70%</a:t>
            </a:r>
            <a:endParaRPr lang="en-US" sz="4400" dirty="0"/>
          </a:p>
        </p:txBody>
      </p:sp>
      <p:sp>
        <p:nvSpPr>
          <p:cNvPr id="7" name="Text 5"/>
          <p:cNvSpPr/>
          <p:nvPr/>
        </p:nvSpPr>
        <p:spPr>
          <a:xfrm>
            <a:off x="1276320" y="3733770"/>
            <a:ext cx="2000250" cy="247620"/>
          </a:xfrm>
          <a:prstGeom prst="rect">
            <a:avLst/>
          </a:prstGeom>
          <a:noFill/>
          <a:ln/>
        </p:spPr>
        <p:txBody>
          <a:bodyPr wrap="square" lIns="0" tIns="0" rIns="0" bIns="0" rtlCol="0" anchor="t"/>
          <a:lstStyle/>
          <a:p>
            <a:pPr algn="l" indent="0" marL="0">
              <a:buNone/>
            </a:pPr>
            <a:r>
              <a:rPr lang="en-US" sz="1000" dirty="0">
                <a:solidFill>
                  <a:srgbClr val="6B6B78"/>
                </a:solidFill>
                <a:latin typeface="Plus Jakarta Sans" pitchFamily="34" charset="0"/>
                <a:ea typeface="Plus Jakarta Sans" pitchFamily="34" charset="-122"/>
                <a:cs typeface="Plus Jakarta Sans" pitchFamily="34" charset="-120"/>
              </a:rPr>
              <a:t>time-to-decision</a:t>
            </a:r>
            <a:endParaRPr lang="en-US" sz="1000" dirty="0"/>
          </a:p>
        </p:txBody>
      </p:sp>
      <p:sp>
        <p:nvSpPr>
          <p:cNvPr id="8" name="Shape 6"/>
          <p:cNvSpPr/>
          <p:nvPr/>
        </p:nvSpPr>
        <p:spPr>
          <a:xfrm>
            <a:off x="3619470" y="2209830"/>
            <a:ext cx="2381280" cy="1904970"/>
          </a:xfrm>
          <a:prstGeom prst="roundRect">
            <a:avLst>
              <a:gd name="adj" fmla="val 12000"/>
            </a:avLst>
          </a:prstGeom>
          <a:solidFill>
            <a:srgbClr val="FFFFFF"/>
          </a:solidFill>
          <a:ln w="12700">
            <a:solidFill>
              <a:srgbClr val="E6E6E6"/>
            </a:solidFill>
            <a:prstDash val="solid"/>
          </a:ln>
          <a:effectLst>
            <a:outerShdw sx="100000" sy="100000" kx="0" ky="0" algn="bl" rotWithShape="0" blurRad="5.28613910512e+21" dist="1.65191847035e+21" dir="6.9984e+25">
              <a:srgbClr val="9CA3AF">
                <a:alpha val="1.6e+24"/>
              </a:srgbClr>
            </a:outerShdw>
          </a:effectLst>
        </p:spPr>
      </p:sp>
      <p:sp>
        <p:nvSpPr>
          <p:cNvPr id="9" name="Text 7"/>
          <p:cNvSpPr/>
          <p:nvPr/>
        </p:nvSpPr>
        <p:spPr>
          <a:xfrm>
            <a:off x="3848070" y="2438430"/>
            <a:ext cx="2000250" cy="419070"/>
          </a:xfrm>
          <a:prstGeom prst="rect">
            <a:avLst/>
          </a:prstGeom>
          <a:noFill/>
          <a:ln/>
        </p:spPr>
        <p:txBody>
          <a:bodyPr wrap="square" lIns="0" tIns="0" rIns="0" bIns="0" rtlCol="0" anchor="t"/>
          <a:lstStyle/>
          <a:p>
            <a:pPr algn="l" indent="0" marL="0">
              <a:lnSpc>
                <a:spcPct val="120000"/>
              </a:lnSpc>
              <a:buNone/>
            </a:pPr>
            <a:r>
              <a:rPr lang="en-US" sz="1050" b="1" dirty="0">
                <a:solidFill>
                  <a:srgbClr val="6B6B78"/>
                </a:solidFill>
                <a:latin typeface="Plus Jakarta Sans" pitchFamily="34" charset="0"/>
                <a:ea typeface="Plus Jakarta Sans" pitchFamily="34" charset="-122"/>
                <a:cs typeface="Plus Jakarta Sans" pitchFamily="34" charset="-120"/>
              </a:rPr>
              <a:t>Reduction in wasted spend</a:t>
            </a:r>
            <a:endParaRPr lang="en-US" sz="1050" dirty="0"/>
          </a:p>
        </p:txBody>
      </p:sp>
      <p:sp>
        <p:nvSpPr>
          <p:cNvPr id="10" name="Text 8"/>
          <p:cNvSpPr/>
          <p:nvPr/>
        </p:nvSpPr>
        <p:spPr>
          <a:xfrm>
            <a:off x="3848070" y="2914650"/>
            <a:ext cx="2000250" cy="666780"/>
          </a:xfrm>
          <a:prstGeom prst="rect">
            <a:avLst/>
          </a:prstGeom>
          <a:noFill/>
          <a:ln/>
        </p:spPr>
        <p:txBody>
          <a:bodyPr wrap="square" lIns="0" tIns="0" rIns="0" bIns="0" rtlCol="0" anchor="t"/>
          <a:lstStyle/>
          <a:p>
            <a:pPr algn="l" indent="0" marL="0">
              <a:buNone/>
            </a:pPr>
            <a:r>
              <a:rPr lang="en-US" sz="4400" b="1" spc="-100" kern="0" dirty="0">
                <a:solidFill>
                  <a:srgbClr val="FF8431"/>
                </a:solidFill>
                <a:latin typeface="Bricolage Grotesque" pitchFamily="34" charset="0"/>
                <a:ea typeface="Bricolage Grotesque" pitchFamily="34" charset="-122"/>
                <a:cs typeface="Bricolage Grotesque" pitchFamily="34" charset="-120"/>
              </a:rPr>
              <a:t>12%</a:t>
            </a:r>
            <a:endParaRPr lang="en-US" sz="4400" dirty="0"/>
          </a:p>
        </p:txBody>
      </p:sp>
      <p:sp>
        <p:nvSpPr>
          <p:cNvPr id="11" name="Text 9"/>
          <p:cNvSpPr/>
          <p:nvPr/>
        </p:nvSpPr>
        <p:spPr>
          <a:xfrm>
            <a:off x="3848070" y="3733770"/>
            <a:ext cx="2000250" cy="247620"/>
          </a:xfrm>
          <a:prstGeom prst="rect">
            <a:avLst/>
          </a:prstGeom>
          <a:noFill/>
          <a:ln/>
        </p:spPr>
        <p:txBody>
          <a:bodyPr wrap="square" lIns="0" tIns="0" rIns="0" bIns="0" rtlCol="0" anchor="t"/>
          <a:lstStyle/>
          <a:p>
            <a:pPr algn="l" indent="0" marL="0">
              <a:buNone/>
            </a:pPr>
            <a:r>
              <a:rPr lang="en-US" sz="1000" dirty="0">
                <a:solidFill>
                  <a:srgbClr val="6B6B78"/>
                </a:solidFill>
                <a:latin typeface="Plus Jakarta Sans" pitchFamily="34" charset="0"/>
                <a:ea typeface="Plus Jakarta Sans" pitchFamily="34" charset="-122"/>
                <a:cs typeface="Plus Jakarta Sans" pitchFamily="34" charset="-120"/>
              </a:rPr>
              <a:t>reclaimed by Alfred</a:t>
            </a:r>
            <a:endParaRPr lang="en-US" sz="1000" dirty="0"/>
          </a:p>
        </p:txBody>
      </p:sp>
      <p:sp>
        <p:nvSpPr>
          <p:cNvPr id="12" name="Shape 10"/>
          <p:cNvSpPr/>
          <p:nvPr/>
        </p:nvSpPr>
        <p:spPr>
          <a:xfrm>
            <a:off x="6191220" y="2209830"/>
            <a:ext cx="2381280" cy="1904970"/>
          </a:xfrm>
          <a:prstGeom prst="roundRect">
            <a:avLst>
              <a:gd name="adj" fmla="val 12000"/>
            </a:avLst>
          </a:prstGeom>
          <a:solidFill>
            <a:srgbClr val="FFFFFF"/>
          </a:solidFill>
          <a:ln w="12700">
            <a:solidFill>
              <a:srgbClr val="E6E6E6"/>
            </a:solidFill>
            <a:prstDash val="solid"/>
          </a:ln>
          <a:effectLst>
            <a:outerShdw sx="100000" sy="100000" kx="0" ky="0" algn="bl" rotWithShape="0" blurRad="6.7133966635024e+25" dist="2.0979364573445003e+25" dir="4.19904e+30">
              <a:srgbClr val="9CA3AF">
                <a:alpha val="1.6e+29"/>
              </a:srgbClr>
            </a:outerShdw>
          </a:effectLst>
        </p:spPr>
      </p:sp>
      <p:sp>
        <p:nvSpPr>
          <p:cNvPr id="13" name="Text 11"/>
          <p:cNvSpPr/>
          <p:nvPr/>
        </p:nvSpPr>
        <p:spPr>
          <a:xfrm>
            <a:off x="6419820" y="2438430"/>
            <a:ext cx="2000250" cy="419070"/>
          </a:xfrm>
          <a:prstGeom prst="rect">
            <a:avLst/>
          </a:prstGeom>
          <a:noFill/>
          <a:ln/>
        </p:spPr>
        <p:txBody>
          <a:bodyPr wrap="square" lIns="0" tIns="0" rIns="0" bIns="0" rtlCol="0" anchor="t"/>
          <a:lstStyle/>
          <a:p>
            <a:pPr algn="l" indent="0" marL="0">
              <a:lnSpc>
                <a:spcPct val="120000"/>
              </a:lnSpc>
              <a:buNone/>
            </a:pPr>
            <a:r>
              <a:rPr lang="en-US" sz="1050" b="1" dirty="0">
                <a:solidFill>
                  <a:srgbClr val="6B6B78"/>
                </a:solidFill>
                <a:latin typeface="Plus Jakarta Sans" pitchFamily="34" charset="0"/>
                <a:ea typeface="Plus Jakarta Sans" pitchFamily="34" charset="-122"/>
                <a:cs typeface="Plus Jakarta Sans" pitchFamily="34" charset="-120"/>
              </a:rPr>
              <a:t>Weekly hours reclaimed</a:t>
            </a:r>
            <a:endParaRPr lang="en-US" sz="1050" dirty="0"/>
          </a:p>
        </p:txBody>
      </p:sp>
      <p:sp>
        <p:nvSpPr>
          <p:cNvPr id="14" name="Text 12"/>
          <p:cNvSpPr/>
          <p:nvPr/>
        </p:nvSpPr>
        <p:spPr>
          <a:xfrm>
            <a:off x="6419820" y="2914650"/>
            <a:ext cx="2000250" cy="666780"/>
          </a:xfrm>
          <a:prstGeom prst="rect">
            <a:avLst/>
          </a:prstGeom>
          <a:noFill/>
          <a:ln/>
        </p:spPr>
        <p:txBody>
          <a:bodyPr wrap="square" lIns="0" tIns="0" rIns="0" bIns="0" rtlCol="0" anchor="t"/>
          <a:lstStyle/>
          <a:p>
            <a:pPr algn="l" indent="0" marL="0">
              <a:buNone/>
            </a:pPr>
            <a:r>
              <a:rPr lang="en-US" sz="4400" b="1" spc="-100" kern="0" dirty="0">
                <a:solidFill>
                  <a:srgbClr val="FF8431"/>
                </a:solidFill>
                <a:latin typeface="Bricolage Grotesque" pitchFamily="34" charset="0"/>
                <a:ea typeface="Bricolage Grotesque" pitchFamily="34" charset="-122"/>
                <a:cs typeface="Bricolage Grotesque" pitchFamily="34" charset="-120"/>
              </a:rPr>
              <a:t>15+</a:t>
            </a:r>
            <a:endParaRPr lang="en-US" sz="4400" dirty="0"/>
          </a:p>
        </p:txBody>
      </p:sp>
      <p:sp>
        <p:nvSpPr>
          <p:cNvPr id="15" name="Text 13"/>
          <p:cNvSpPr/>
          <p:nvPr/>
        </p:nvSpPr>
        <p:spPr>
          <a:xfrm>
            <a:off x="6419820" y="3733770"/>
            <a:ext cx="2000250" cy="247620"/>
          </a:xfrm>
          <a:prstGeom prst="rect">
            <a:avLst/>
          </a:prstGeom>
          <a:noFill/>
          <a:ln/>
        </p:spPr>
        <p:txBody>
          <a:bodyPr wrap="square" lIns="0" tIns="0" rIns="0" bIns="0" rtlCol="0" anchor="t"/>
          <a:lstStyle/>
          <a:p>
            <a:pPr algn="l" indent="0" marL="0">
              <a:buNone/>
            </a:pPr>
            <a:r>
              <a:rPr lang="en-US" sz="1000" dirty="0">
                <a:solidFill>
                  <a:srgbClr val="6B6B78"/>
                </a:solidFill>
                <a:latin typeface="Plus Jakarta Sans" pitchFamily="34" charset="0"/>
                <a:ea typeface="Plus Jakarta Sans" pitchFamily="34" charset="-122"/>
                <a:cs typeface="Plus Jakarta Sans" pitchFamily="34" charset="-120"/>
              </a:rPr>
              <a:t>per leader</a:t>
            </a:r>
            <a:endParaRPr lang="en-US" sz="1000" dirty="0"/>
          </a:p>
        </p:txBody>
      </p:sp>
      <p:sp>
        <p:nvSpPr>
          <p:cNvPr id="16" name="Shape 14"/>
          <p:cNvSpPr/>
          <p:nvPr/>
        </p:nvSpPr>
        <p:spPr>
          <a:xfrm>
            <a:off x="8762970" y="2209830"/>
            <a:ext cx="2381280" cy="1904970"/>
          </a:xfrm>
          <a:prstGeom prst="roundRect">
            <a:avLst>
              <a:gd name="adj" fmla="val 12000"/>
            </a:avLst>
          </a:prstGeom>
          <a:solidFill>
            <a:srgbClr val="FFFFFF"/>
          </a:solidFill>
          <a:ln w="12700">
            <a:solidFill>
              <a:srgbClr val="E6E6E6"/>
            </a:solidFill>
            <a:prstDash val="solid"/>
          </a:ln>
          <a:effectLst>
            <a:outerShdw sx="100000" sy="100000" kx="0" ky="0" algn="bl" rotWithShape="0" blurRad="8.526013762648047e+29" dist="2.6643793008275154e+29" dir="2.519424e+35">
              <a:srgbClr val="9CA3AF">
                <a:alpha val="1.6e+34"/>
              </a:srgbClr>
            </a:outerShdw>
          </a:effectLst>
        </p:spPr>
      </p:sp>
      <p:sp>
        <p:nvSpPr>
          <p:cNvPr id="17" name="Text 15"/>
          <p:cNvSpPr/>
          <p:nvPr/>
        </p:nvSpPr>
        <p:spPr>
          <a:xfrm>
            <a:off x="8991570" y="2438430"/>
            <a:ext cx="2000250" cy="419070"/>
          </a:xfrm>
          <a:prstGeom prst="rect">
            <a:avLst/>
          </a:prstGeom>
          <a:noFill/>
          <a:ln/>
        </p:spPr>
        <p:txBody>
          <a:bodyPr wrap="square" lIns="0" tIns="0" rIns="0" bIns="0" rtlCol="0" anchor="t"/>
          <a:lstStyle/>
          <a:p>
            <a:pPr algn="l" indent="0" marL="0">
              <a:lnSpc>
                <a:spcPct val="120000"/>
              </a:lnSpc>
              <a:buNone/>
            </a:pPr>
            <a:r>
              <a:rPr lang="en-US" sz="1050" b="1" dirty="0">
                <a:solidFill>
                  <a:srgbClr val="6B6B78"/>
                </a:solidFill>
                <a:latin typeface="Plus Jakarta Sans" pitchFamily="34" charset="0"/>
                <a:ea typeface="Plus Jakarta Sans" pitchFamily="34" charset="-122"/>
                <a:cs typeface="Plus Jakarta Sans" pitchFamily="34" charset="-120"/>
              </a:rPr>
              <a:t>Answered without an analyst</a:t>
            </a:r>
            <a:endParaRPr lang="en-US" sz="1050" dirty="0"/>
          </a:p>
        </p:txBody>
      </p:sp>
      <p:sp>
        <p:nvSpPr>
          <p:cNvPr id="18" name="Text 16"/>
          <p:cNvSpPr/>
          <p:nvPr/>
        </p:nvSpPr>
        <p:spPr>
          <a:xfrm>
            <a:off x="8991570" y="2914650"/>
            <a:ext cx="2000250" cy="666780"/>
          </a:xfrm>
          <a:prstGeom prst="rect">
            <a:avLst/>
          </a:prstGeom>
          <a:noFill/>
          <a:ln/>
        </p:spPr>
        <p:txBody>
          <a:bodyPr wrap="square" lIns="0" tIns="0" rIns="0" bIns="0" rtlCol="0" anchor="t"/>
          <a:lstStyle/>
          <a:p>
            <a:pPr algn="l" indent="0" marL="0">
              <a:buNone/>
            </a:pPr>
            <a:r>
              <a:rPr lang="en-US" sz="4400" b="1" spc="-100" kern="0" dirty="0">
                <a:solidFill>
                  <a:srgbClr val="FF8431"/>
                </a:solidFill>
                <a:latin typeface="Bricolage Grotesque" pitchFamily="34" charset="0"/>
                <a:ea typeface="Bricolage Grotesque" pitchFamily="34" charset="-122"/>
                <a:cs typeface="Bricolage Grotesque" pitchFamily="34" charset="-120"/>
              </a:rPr>
              <a:t>85%</a:t>
            </a:r>
            <a:endParaRPr lang="en-US" sz="4400" dirty="0"/>
          </a:p>
        </p:txBody>
      </p:sp>
      <p:sp>
        <p:nvSpPr>
          <p:cNvPr id="19" name="Text 17"/>
          <p:cNvSpPr/>
          <p:nvPr/>
        </p:nvSpPr>
        <p:spPr>
          <a:xfrm>
            <a:off x="8991570" y="3733770"/>
            <a:ext cx="2000250" cy="247620"/>
          </a:xfrm>
          <a:prstGeom prst="rect">
            <a:avLst/>
          </a:prstGeom>
          <a:noFill/>
          <a:ln/>
        </p:spPr>
        <p:txBody>
          <a:bodyPr wrap="square" lIns="0" tIns="0" rIns="0" bIns="0" rtlCol="0" anchor="t"/>
          <a:lstStyle/>
          <a:p>
            <a:pPr algn="l" indent="0" marL="0">
              <a:buNone/>
            </a:pPr>
            <a:r>
              <a:rPr lang="en-US" sz="1000" dirty="0">
                <a:solidFill>
                  <a:srgbClr val="6B6B78"/>
                </a:solidFill>
                <a:latin typeface="Plus Jakarta Sans" pitchFamily="34" charset="0"/>
                <a:ea typeface="Plus Jakarta Sans" pitchFamily="34" charset="-122"/>
                <a:cs typeface="Plus Jakarta Sans" pitchFamily="34" charset="-120"/>
              </a:rPr>
              <a:t>of questions, on demand</a:t>
            </a:r>
            <a:endParaRPr lang="en-US" sz="1000" dirty="0"/>
          </a:p>
        </p:txBody>
      </p:sp>
      <p:sp>
        <p:nvSpPr>
          <p:cNvPr id="20" name="Text 18"/>
          <p:cNvSpPr/>
          <p:nvPr/>
        </p:nvSpPr>
        <p:spPr>
          <a:xfrm>
            <a:off x="1047720" y="4476720"/>
            <a:ext cx="10096530" cy="476220"/>
          </a:xfrm>
          <a:prstGeom prst="rect">
            <a:avLst/>
          </a:prstGeom>
          <a:noFill/>
          <a:ln/>
        </p:spPr>
        <p:txBody>
          <a:bodyPr wrap="square" lIns="0" tIns="0" rIns="0" bIns="0" rtlCol="0" anchor="t"/>
          <a:lstStyle/>
          <a:p>
            <a:pPr algn="l" indent="0" marL="0">
              <a:lnSpc>
                <a:spcPct val="140000"/>
              </a:lnSpc>
              <a:buNone/>
            </a:pPr>
            <a:r>
              <a:rPr lang="en-US" sz="1250" dirty="0">
                <a:solidFill>
                  <a:srgbClr val="6B6B78"/>
                </a:solidFill>
                <a:latin typeface="Plus Jakarta Sans" pitchFamily="34" charset="0"/>
                <a:ea typeface="Plus Jakarta Sans" pitchFamily="34" charset="-122"/>
                <a:cs typeface="Plus Jakarta Sans" pitchFamily="34" charset="-120"/>
              </a:rPr>
              <a:t>From Alfred for Marketing, the first live module. Every additional module compounds on the same engine and the same memory.</a:t>
            </a:r>
            <a:endParaRPr lang="en-US" sz="1250" dirty="0"/>
          </a:p>
        </p:txBody>
      </p:sp>
      <p:sp>
        <p:nvSpPr>
          <p:cNvPr id="21" name="Text 19"/>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WHY ALFRED WINS</a:t>
            </a:r>
            <a:endParaRPr lang="en-US" sz="1100" dirty="0"/>
          </a:p>
        </p:txBody>
      </p:sp>
      <p:sp>
        <p:nvSpPr>
          <p:cNvPr id="3" name="Text 1"/>
          <p:cNvSpPr/>
          <p:nvPr/>
        </p:nvSpPr>
        <p:spPr>
          <a:xfrm>
            <a:off x="1047720" y="1104870"/>
            <a:ext cx="10096530" cy="533370"/>
          </a:xfrm>
          <a:prstGeom prst="rect">
            <a:avLst/>
          </a:prstGeom>
          <a:noFill/>
          <a:ln/>
        </p:spPr>
        <p:txBody>
          <a:bodyPr wrap="square" lIns="0" tIns="0" rIns="0" bIns="0" rtlCol="0" anchor="t"/>
          <a:lstStyle/>
          <a:p>
            <a:pPr algn="l" indent="0" marL="0">
              <a:buNone/>
            </a:pPr>
            <a:r>
              <a:rPr lang="en-US" sz="3400" b="1" spc="-60" kern="0" dirty="0">
                <a:solidFill>
                  <a:srgbClr val="02021E"/>
                </a:solidFill>
                <a:latin typeface="Bricolage Grotesque" pitchFamily="34" charset="0"/>
                <a:ea typeface="Bricolage Grotesque" pitchFamily="34" charset="-122"/>
                <a:cs typeface="Bricolage Grotesque" pitchFamily="34" charset="-120"/>
              </a:rPr>
              <a:t>Built for leaders — and it remembers.</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047720" y="1962120"/>
          <a:ext cx="10096530" cy="914400"/>
        </p:xfrm>
        <a:graphic>
          <a:graphicData uri="http://schemas.openxmlformats.org/drawingml/2006/table">
            <a:tbl>
              <a:tblPr/>
              <a:tblGrid>
                <a:gridCol w="2190720"/>
                <a:gridCol w="3952860"/>
                <a:gridCol w="3952860"/>
              </a:tblGrid>
              <a:tr h="342900">
                <a:tc>
                  <a:txBody>
                    <a:bodyPr/>
                    <a:lstStyle/>
                    <a:p>
                      <a:pPr indent="0" marL="0">
                        <a:buNone/>
                      </a:pPr>
                      <a:r>
                        <a:rPr lang="en-US" sz="1000" b="1" spc="60" kern="0" dirty="0">
                          <a:solidFill>
                            <a:srgbClr val="6B6B78"/>
                          </a:solidFill>
                          <a:latin typeface="Plus Jakarta Sans" pitchFamily="34" charset="0"/>
                          <a:ea typeface="Plus Jakarta Sans" pitchFamily="34" charset="-122"/>
                          <a:cs typeface="Plus Jakarta Sans" pitchFamily="34" charset="-120"/>
                        </a:rPr>
                        <a:t>VERSUS</a:t>
                      </a:r>
                      <a:endParaRPr lang="en-US" sz="1000" dirty="0">
                        <a:latin typeface="Plus Jakarta Sans" charset="0"/>
                        <a:ea typeface="Plus Jakarta Sans" charset="0"/>
                        <a:cs typeface="Plus Jakarta Sans" charset="0"/>
                      </a:endParaRPr>
                    </a:p>
                  </a:txBody>
                  <a:tcPr marL="127000" marR="127000" marT="76200" marB="762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000" b="1" spc="60" kern="0" dirty="0">
                          <a:solidFill>
                            <a:srgbClr val="6B6B78"/>
                          </a:solidFill>
                          <a:latin typeface="Plus Jakarta Sans" pitchFamily="34" charset="0"/>
                          <a:ea typeface="Plus Jakarta Sans" pitchFamily="34" charset="-122"/>
                          <a:cs typeface="Plus Jakarta Sans" pitchFamily="34" charset="-120"/>
                        </a:rPr>
                        <a:t>THE GAP</a:t>
                      </a:r>
                      <a:endParaRPr lang="en-US" sz="1000" dirty="0">
                        <a:latin typeface="Plus Jakarta Sans" charset="0"/>
                        <a:ea typeface="Plus Jakarta Sans" charset="0"/>
                        <a:cs typeface="Plus Jakarta Sans" charset="0"/>
                      </a:endParaRPr>
                    </a:p>
                  </a:txBody>
                  <a:tcPr marL="127000" marR="127000" marT="76200" marB="762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000" b="1" spc="60" kern="0" dirty="0">
                          <a:solidFill>
                            <a:srgbClr val="6B6B78"/>
                          </a:solidFill>
                          <a:latin typeface="Plus Jakarta Sans" pitchFamily="34" charset="0"/>
                          <a:ea typeface="Plus Jakarta Sans" pitchFamily="34" charset="-122"/>
                          <a:cs typeface="Plus Jakarta Sans" pitchFamily="34" charset="-120"/>
                        </a:rPr>
                        <a:t>ALFRED</a:t>
                      </a:r>
                      <a:endParaRPr lang="en-US" sz="1000" dirty="0">
                        <a:latin typeface="Plus Jakarta Sans" charset="0"/>
                        <a:ea typeface="Plus Jakarta Sans" charset="0"/>
                        <a:cs typeface="Plus Jakarta Sans" charset="0"/>
                      </a:endParaRPr>
                    </a:p>
                  </a:txBody>
                  <a:tcPr marL="127000" marR="127000" marT="76200" marB="762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95330">
                <a:tc>
                  <a:txBody>
                    <a:bodyPr/>
                    <a:lstStyle/>
                    <a:p>
                      <a:pPr indent="0" marL="0">
                        <a:buNone/>
                      </a:pPr>
                      <a:r>
                        <a:rPr lang="en-US" sz="1250" b="1" dirty="0">
                          <a:solidFill>
                            <a:srgbClr val="02021E"/>
                          </a:solidFill>
                          <a:latin typeface="Plus Jakarta Sans" pitchFamily="34" charset="0"/>
                          <a:ea typeface="Plus Jakarta Sans" pitchFamily="34" charset="-122"/>
                          <a:cs typeface="Plus Jakarta Sans" pitchFamily="34" charset="-120"/>
                        </a:rPr>
                        <a:t>BI tools</a:t>
                      </a:r>
                      <a:endParaRPr lang="en-US" sz="125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00" dirty="0">
                          <a:solidFill>
                            <a:srgbClr val="505050"/>
                          </a:solidFill>
                          <a:latin typeface="Plus Jakarta Sans" pitchFamily="34" charset="0"/>
                          <a:ea typeface="Plus Jakarta Sans" pitchFamily="34" charset="-122"/>
                          <a:cs typeface="Plus Jakarta Sans" pitchFamily="34" charset="-120"/>
                        </a:rPr>
                        <a:t>Built for analysts, shows symptoms</a:t>
                      </a:r>
                      <a:endParaRPr lang="en-US" sz="120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00" dirty="0">
                          <a:solidFill>
                            <a:srgbClr val="02021E"/>
                          </a:solidFill>
                          <a:latin typeface="Plus Jakarta Sans" pitchFamily="34" charset="0"/>
                          <a:ea typeface="Plus Jakarta Sans" pitchFamily="34" charset="-122"/>
                          <a:cs typeface="Plus Jakarta Sans" pitchFamily="34" charset="-120"/>
                        </a:rPr>
                        <a:t>Built for leaders, explains causes</a:t>
                      </a:r>
                      <a:endParaRPr lang="en-US" sz="120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95330">
                <a:tc>
                  <a:txBody>
                    <a:bodyPr/>
                    <a:lstStyle/>
                    <a:p>
                      <a:pPr indent="0" marL="0">
                        <a:buNone/>
                      </a:pPr>
                      <a:r>
                        <a:rPr lang="en-US" sz="1250" b="1" dirty="0">
                          <a:solidFill>
                            <a:srgbClr val="02021E"/>
                          </a:solidFill>
                          <a:latin typeface="Plus Jakarta Sans" pitchFamily="34" charset="0"/>
                          <a:ea typeface="Plus Jakarta Sans" pitchFamily="34" charset="-122"/>
                          <a:cs typeface="Plus Jakarta Sans" pitchFamily="34" charset="-120"/>
                        </a:rPr>
                        <a:t>Generic AI / copilots</a:t>
                      </a:r>
                      <a:endParaRPr lang="en-US" sz="125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00" dirty="0">
                          <a:solidFill>
                            <a:srgbClr val="505050"/>
                          </a:solidFill>
                          <a:latin typeface="Plus Jakarta Sans" pitchFamily="34" charset="0"/>
                          <a:ea typeface="Plus Jakarta Sans" pitchFamily="34" charset="-122"/>
                          <a:cs typeface="Plus Jakarta Sans" pitchFamily="34" charset="-120"/>
                        </a:rPr>
                        <a:t>Stateless, lives in your documents</a:t>
                      </a:r>
                      <a:endParaRPr lang="en-US" sz="120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00" dirty="0">
                          <a:solidFill>
                            <a:srgbClr val="02021E"/>
                          </a:solidFill>
                          <a:latin typeface="Plus Jakarta Sans" pitchFamily="34" charset="0"/>
                          <a:ea typeface="Plus Jakarta Sans" pitchFamily="34" charset="-122"/>
                          <a:cs typeface="Plus Jakarta Sans" pitchFamily="34" charset="-120"/>
                        </a:rPr>
                        <a:t>Always-on, lives in your data, remembers</a:t>
                      </a:r>
                      <a:endParaRPr lang="en-US" sz="120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95330">
                <a:tc>
                  <a:txBody>
                    <a:bodyPr/>
                    <a:lstStyle/>
                    <a:p>
                      <a:pPr indent="0" marL="0">
                        <a:buNone/>
                      </a:pPr>
                      <a:r>
                        <a:rPr lang="en-US" sz="1250" b="1" dirty="0">
                          <a:solidFill>
                            <a:srgbClr val="02021E"/>
                          </a:solidFill>
                          <a:latin typeface="Plus Jakarta Sans" pitchFamily="34" charset="0"/>
                          <a:ea typeface="Plus Jakarta Sans" pitchFamily="34" charset="-122"/>
                          <a:cs typeface="Plus Jakarta Sans" pitchFamily="34" charset="-120"/>
                        </a:rPr>
                        <a:t>CRMs</a:t>
                      </a:r>
                      <a:endParaRPr lang="en-US" sz="125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00" dirty="0">
                          <a:solidFill>
                            <a:srgbClr val="505050"/>
                          </a:solidFill>
                          <a:latin typeface="Plus Jakarta Sans" pitchFamily="34" charset="0"/>
                          <a:ea typeface="Plus Jakarta Sans" pitchFamily="34" charset="-122"/>
                          <a:cs typeface="Plus Jakarta Sans" pitchFamily="34" charset="-120"/>
                        </a:rPr>
                        <a:t>Stores what happened</a:t>
                      </a:r>
                      <a:endParaRPr lang="en-US" sz="120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00" dirty="0">
                          <a:solidFill>
                            <a:srgbClr val="02021E"/>
                          </a:solidFill>
                          <a:latin typeface="Plus Jakarta Sans" pitchFamily="34" charset="0"/>
                          <a:ea typeface="Plus Jakarta Sans" pitchFamily="34" charset="-122"/>
                          <a:cs typeface="Plus Jakarta Sans" pitchFamily="34" charset="-120"/>
                        </a:rPr>
                        <a:t>Tells you what's about to happen</a:t>
                      </a:r>
                      <a:endParaRPr lang="en-US" sz="120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r h="495330">
                <a:tc>
                  <a:txBody>
                    <a:bodyPr/>
                    <a:lstStyle/>
                    <a:p>
                      <a:pPr indent="0" marL="0">
                        <a:buNone/>
                      </a:pPr>
                      <a:r>
                        <a:rPr lang="en-US" sz="1250" b="1" dirty="0">
                          <a:solidFill>
                            <a:srgbClr val="02021E"/>
                          </a:solidFill>
                          <a:latin typeface="Plus Jakarta Sans" pitchFamily="34" charset="0"/>
                          <a:ea typeface="Plus Jakarta Sans" pitchFamily="34" charset="-122"/>
                          <a:cs typeface="Plus Jakarta Sans" pitchFamily="34" charset="-120"/>
                        </a:rPr>
                        <a:t>Doing nothing</a:t>
                      </a:r>
                      <a:endParaRPr lang="en-US" sz="125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00" dirty="0">
                          <a:solidFill>
                            <a:srgbClr val="505050"/>
                          </a:solidFill>
                          <a:latin typeface="Plus Jakarta Sans" pitchFamily="34" charset="0"/>
                          <a:ea typeface="Plus Jakarta Sans" pitchFamily="34" charset="-122"/>
                          <a:cs typeface="Plus Jakarta Sans" pitchFamily="34" charset="-120"/>
                        </a:rPr>
                        <a:t>Budget compounds against you every hour</a:t>
                      </a:r>
                      <a:endParaRPr lang="en-US" sz="120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c>
                  <a:txBody>
                    <a:bodyPr/>
                    <a:lstStyle/>
                    <a:p>
                      <a:pPr indent="0" marL="0">
                        <a:buNone/>
                      </a:pPr>
                      <a:r>
                        <a:rPr lang="en-US" sz="1200" dirty="0">
                          <a:solidFill>
                            <a:srgbClr val="02021E"/>
                          </a:solidFill>
                          <a:latin typeface="Plus Jakarta Sans" pitchFamily="34" charset="0"/>
                          <a:ea typeface="Plus Jakarta Sans" pitchFamily="34" charset="-122"/>
                          <a:cs typeface="Plus Jakarta Sans" pitchFamily="34" charset="-120"/>
                        </a:rPr>
                        <a:t>Closes the gap to under 2 hours</a:t>
                      </a:r>
                      <a:endParaRPr lang="en-US" sz="1200" dirty="0">
                        <a:latin typeface="Plus Jakarta Sans" charset="0"/>
                        <a:ea typeface="Plus Jakarta Sans" charset="0"/>
                        <a:cs typeface="Plus Jakarta Sans" charset="0"/>
                      </a:endParaRPr>
                    </a:p>
                  </a:txBody>
                  <a:tcPr marL="127000" marR="127000" marT="114300" marB="114300" anchor="ctr">
                    <a:lnL w="0" cap="flat" cmpd="sng" algn="ctr">
                      <a:noFill/>
                    </a:lnL>
                    <a:lnR w="0" cap="flat" cmpd="sng" algn="ctr">
                      <a:noFill/>
                    </a:lnR>
                    <a:lnT w="0" cap="flat" cmpd="sng" algn="ctr">
                      <a:noFill/>
                    </a:lnT>
                    <a:lnB w="12700" cap="flat" cmpd="sng" algn="ctr">
                      <a:solidFill>
                        <a:srgbClr val="E6E6E6"/>
                      </a:solidFill>
                      <a:prstDash val="solid"/>
                      <a:round/>
                      <a:headEnd type="none" w="med" len="med"/>
                      <a:tailEnd type="none" w="med" len="med"/>
                    </a:lnB>
                    <a:solidFill>
                      <a:srgbClr val="FFFFFF"/>
                    </a:solidFill>
                  </a:tcPr>
                </a:tc>
              </a:tr>
            </a:tbl>
          </a:graphicData>
        </a:graphic>
      </p:graphicFrame>
      <p:sp>
        <p:nvSpPr>
          <p:cNvPr id="5" name="Text 2"/>
          <p:cNvSpPr/>
          <p:nvPr/>
        </p:nvSpPr>
        <p:spPr>
          <a:xfrm>
            <a:off x="1047720" y="5295930"/>
            <a:ext cx="10096530" cy="381030"/>
          </a:xfrm>
          <a:prstGeom prst="rect">
            <a:avLst/>
          </a:prstGeom>
          <a:noFill/>
          <a:ln/>
        </p:spPr>
        <p:txBody>
          <a:bodyPr wrap="square" lIns="0" tIns="0" rIns="0" bIns="0" rtlCol="0" anchor="t"/>
          <a:lstStyle/>
          <a:p>
            <a:pPr algn="l" indent="0" marL="0">
              <a:lnSpc>
                <a:spcPct val="135000"/>
              </a:lnSpc>
              <a:buNone/>
            </a:pPr>
            <a:r>
              <a:rPr lang="en-US" sz="1350" b="1" dirty="0">
                <a:solidFill>
                  <a:srgbClr val="02021E"/>
                </a:solidFill>
                <a:latin typeface="Plus Jakarta Sans" pitchFamily="34" charset="0"/>
                <a:ea typeface="Plus Jakarta Sans" pitchFamily="34" charset="-122"/>
                <a:cs typeface="Plus Jakarta Sans" pitchFamily="34" charset="-120"/>
              </a:rPr>
              <a:t>Dashboards show. Copilots wait. Analysts leave. None of them remember. Alfred does.</a:t>
            </a:r>
            <a:endParaRPr lang="en-US" sz="1350" dirty="0"/>
          </a:p>
        </p:txBody>
      </p:sp>
      <p:sp>
        <p:nvSpPr>
          <p:cNvPr id="6" name="Text 3"/>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9F9"/>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INTEGRATIONS</a:t>
            </a:r>
            <a:endParaRPr lang="en-US" sz="1100" dirty="0"/>
          </a:p>
        </p:txBody>
      </p:sp>
      <p:sp>
        <p:nvSpPr>
          <p:cNvPr id="3" name="Text 1"/>
          <p:cNvSpPr/>
          <p:nvPr/>
        </p:nvSpPr>
        <p:spPr>
          <a:xfrm>
            <a:off x="1047720" y="1104870"/>
            <a:ext cx="10096530" cy="533370"/>
          </a:xfrm>
          <a:prstGeom prst="rect">
            <a:avLst/>
          </a:prstGeom>
          <a:noFill/>
          <a:ln/>
        </p:spPr>
        <p:txBody>
          <a:bodyPr wrap="square" lIns="0" tIns="0" rIns="0" bIns="0" rtlCol="0" anchor="t"/>
          <a:lstStyle/>
          <a:p>
            <a:pPr algn="l" indent="0" marL="0">
              <a:buNone/>
            </a:pPr>
            <a:r>
              <a:rPr lang="en-US" sz="3200" b="1" spc="-50" kern="0" dirty="0">
                <a:solidFill>
                  <a:srgbClr val="02021E"/>
                </a:solidFill>
                <a:latin typeface="Bricolage Grotesque" pitchFamily="34" charset="0"/>
                <a:ea typeface="Bricolage Grotesque" pitchFamily="34" charset="-122"/>
                <a:cs typeface="Bricolage Grotesque" pitchFamily="34" charset="-120"/>
              </a:rPr>
              <a:t>Connects to the stack you already run. No rip and replace.</a:t>
            </a:r>
            <a:endParaRPr lang="en-US" sz="3200" dirty="0"/>
          </a:p>
        </p:txBody>
      </p:sp>
      <p:sp>
        <p:nvSpPr>
          <p:cNvPr id="4" name="Shape 2"/>
          <p:cNvSpPr/>
          <p:nvPr/>
        </p:nvSpPr>
        <p:spPr>
          <a:xfrm>
            <a:off x="1047720" y="2152680"/>
            <a:ext cx="2409810" cy="571500"/>
          </a:xfrm>
          <a:prstGeom prst="roundRect">
            <a:avLst>
              <a:gd name="adj" fmla="val 23328"/>
            </a:avLst>
          </a:prstGeom>
          <a:solidFill>
            <a:srgbClr val="FFFFFF"/>
          </a:solidFill>
          <a:ln w="12700">
            <a:solidFill>
              <a:srgbClr val="E6E6E6"/>
            </a:solidFill>
            <a:prstDash val="solid"/>
          </a:ln>
        </p:spPr>
      </p:sp>
      <p:sp>
        <p:nvSpPr>
          <p:cNvPr id="5" name="Text 3"/>
          <p:cNvSpPr/>
          <p:nvPr/>
        </p:nvSpPr>
        <p:spPr>
          <a:xfrm>
            <a:off x="1104870" y="215268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Google Ads</a:t>
            </a:r>
            <a:endParaRPr lang="en-US" sz="1150" dirty="0"/>
          </a:p>
        </p:txBody>
      </p:sp>
      <p:sp>
        <p:nvSpPr>
          <p:cNvPr id="6" name="Shape 4"/>
          <p:cNvSpPr/>
          <p:nvPr/>
        </p:nvSpPr>
        <p:spPr>
          <a:xfrm>
            <a:off x="3609960" y="2152680"/>
            <a:ext cx="2409810" cy="571500"/>
          </a:xfrm>
          <a:prstGeom prst="roundRect">
            <a:avLst>
              <a:gd name="adj" fmla="val 23328"/>
            </a:avLst>
          </a:prstGeom>
          <a:solidFill>
            <a:srgbClr val="FFFFFF"/>
          </a:solidFill>
          <a:ln w="12700">
            <a:solidFill>
              <a:srgbClr val="E6E6E6"/>
            </a:solidFill>
            <a:prstDash val="solid"/>
          </a:ln>
        </p:spPr>
      </p:sp>
      <p:sp>
        <p:nvSpPr>
          <p:cNvPr id="7" name="Text 5"/>
          <p:cNvSpPr/>
          <p:nvPr/>
        </p:nvSpPr>
        <p:spPr>
          <a:xfrm>
            <a:off x="3667110" y="215268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Meta Ads</a:t>
            </a:r>
            <a:endParaRPr lang="en-US" sz="1150" dirty="0"/>
          </a:p>
        </p:txBody>
      </p:sp>
      <p:sp>
        <p:nvSpPr>
          <p:cNvPr id="8" name="Shape 6"/>
          <p:cNvSpPr/>
          <p:nvPr/>
        </p:nvSpPr>
        <p:spPr>
          <a:xfrm>
            <a:off x="6172200" y="2152680"/>
            <a:ext cx="2409810" cy="571500"/>
          </a:xfrm>
          <a:prstGeom prst="roundRect">
            <a:avLst>
              <a:gd name="adj" fmla="val 23328"/>
            </a:avLst>
          </a:prstGeom>
          <a:solidFill>
            <a:srgbClr val="FFFFFF"/>
          </a:solidFill>
          <a:ln w="12700">
            <a:solidFill>
              <a:srgbClr val="E6E6E6"/>
            </a:solidFill>
            <a:prstDash val="solid"/>
          </a:ln>
        </p:spPr>
      </p:sp>
      <p:sp>
        <p:nvSpPr>
          <p:cNvPr id="9" name="Text 7"/>
          <p:cNvSpPr/>
          <p:nvPr/>
        </p:nvSpPr>
        <p:spPr>
          <a:xfrm>
            <a:off x="6229350" y="215268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LinkedIn Ads</a:t>
            </a:r>
            <a:endParaRPr lang="en-US" sz="1150" dirty="0"/>
          </a:p>
        </p:txBody>
      </p:sp>
      <p:sp>
        <p:nvSpPr>
          <p:cNvPr id="10" name="Shape 8"/>
          <p:cNvSpPr/>
          <p:nvPr/>
        </p:nvSpPr>
        <p:spPr>
          <a:xfrm>
            <a:off x="8734440" y="2152680"/>
            <a:ext cx="2409810" cy="571500"/>
          </a:xfrm>
          <a:prstGeom prst="roundRect">
            <a:avLst>
              <a:gd name="adj" fmla="val 23328"/>
            </a:avLst>
          </a:prstGeom>
          <a:solidFill>
            <a:srgbClr val="FFFFFF"/>
          </a:solidFill>
          <a:ln w="12700">
            <a:solidFill>
              <a:srgbClr val="E6E6E6"/>
            </a:solidFill>
            <a:prstDash val="solid"/>
          </a:ln>
        </p:spPr>
      </p:sp>
      <p:sp>
        <p:nvSpPr>
          <p:cNvPr id="11" name="Text 9"/>
          <p:cNvSpPr/>
          <p:nvPr/>
        </p:nvSpPr>
        <p:spPr>
          <a:xfrm>
            <a:off x="8791590" y="215268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Amazon Ads</a:t>
            </a:r>
            <a:endParaRPr lang="en-US" sz="1150" dirty="0"/>
          </a:p>
        </p:txBody>
      </p:sp>
      <p:sp>
        <p:nvSpPr>
          <p:cNvPr id="12" name="Shape 10"/>
          <p:cNvSpPr/>
          <p:nvPr/>
        </p:nvSpPr>
        <p:spPr>
          <a:xfrm>
            <a:off x="1047720" y="2876520"/>
            <a:ext cx="2409810" cy="571500"/>
          </a:xfrm>
          <a:prstGeom prst="roundRect">
            <a:avLst>
              <a:gd name="adj" fmla="val 23328"/>
            </a:avLst>
          </a:prstGeom>
          <a:solidFill>
            <a:srgbClr val="FFFFFF"/>
          </a:solidFill>
          <a:ln w="12700">
            <a:solidFill>
              <a:srgbClr val="E6E6E6"/>
            </a:solidFill>
            <a:prstDash val="solid"/>
          </a:ln>
        </p:spPr>
      </p:sp>
      <p:sp>
        <p:nvSpPr>
          <p:cNvPr id="13" name="Text 11"/>
          <p:cNvSpPr/>
          <p:nvPr/>
        </p:nvSpPr>
        <p:spPr>
          <a:xfrm>
            <a:off x="1104870" y="287652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Shopify Ads</a:t>
            </a:r>
            <a:endParaRPr lang="en-US" sz="1150" dirty="0"/>
          </a:p>
        </p:txBody>
      </p:sp>
      <p:sp>
        <p:nvSpPr>
          <p:cNvPr id="14" name="Shape 12"/>
          <p:cNvSpPr/>
          <p:nvPr/>
        </p:nvSpPr>
        <p:spPr>
          <a:xfrm>
            <a:off x="3609960" y="2876520"/>
            <a:ext cx="2409810" cy="571500"/>
          </a:xfrm>
          <a:prstGeom prst="roundRect">
            <a:avLst>
              <a:gd name="adj" fmla="val 23328"/>
            </a:avLst>
          </a:prstGeom>
          <a:solidFill>
            <a:srgbClr val="FFFFFF"/>
          </a:solidFill>
          <a:ln w="12700">
            <a:solidFill>
              <a:srgbClr val="E6E6E6"/>
            </a:solidFill>
            <a:prstDash val="solid"/>
          </a:ln>
        </p:spPr>
      </p:sp>
      <p:sp>
        <p:nvSpPr>
          <p:cNvPr id="15" name="Text 13"/>
          <p:cNvSpPr/>
          <p:nvPr/>
        </p:nvSpPr>
        <p:spPr>
          <a:xfrm>
            <a:off x="3667110" y="287652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Google Analytics</a:t>
            </a:r>
            <a:endParaRPr lang="en-US" sz="1150" dirty="0"/>
          </a:p>
        </p:txBody>
      </p:sp>
      <p:sp>
        <p:nvSpPr>
          <p:cNvPr id="16" name="Shape 14"/>
          <p:cNvSpPr/>
          <p:nvPr/>
        </p:nvSpPr>
        <p:spPr>
          <a:xfrm>
            <a:off x="6172200" y="2876520"/>
            <a:ext cx="2409810" cy="571500"/>
          </a:xfrm>
          <a:prstGeom prst="roundRect">
            <a:avLst>
              <a:gd name="adj" fmla="val 23328"/>
            </a:avLst>
          </a:prstGeom>
          <a:solidFill>
            <a:srgbClr val="FFFFFF"/>
          </a:solidFill>
          <a:ln w="12700">
            <a:solidFill>
              <a:srgbClr val="E6E6E6"/>
            </a:solidFill>
            <a:prstDash val="solid"/>
          </a:ln>
        </p:spPr>
      </p:sp>
      <p:sp>
        <p:nvSpPr>
          <p:cNvPr id="17" name="Text 15"/>
          <p:cNvSpPr/>
          <p:nvPr/>
        </p:nvSpPr>
        <p:spPr>
          <a:xfrm>
            <a:off x="6229350" y="287652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Search Console</a:t>
            </a:r>
            <a:endParaRPr lang="en-US" sz="1150" dirty="0"/>
          </a:p>
        </p:txBody>
      </p:sp>
      <p:sp>
        <p:nvSpPr>
          <p:cNvPr id="18" name="Shape 16"/>
          <p:cNvSpPr/>
          <p:nvPr/>
        </p:nvSpPr>
        <p:spPr>
          <a:xfrm>
            <a:off x="8734440" y="2876520"/>
            <a:ext cx="2409810" cy="571500"/>
          </a:xfrm>
          <a:prstGeom prst="roundRect">
            <a:avLst>
              <a:gd name="adj" fmla="val 23328"/>
            </a:avLst>
          </a:prstGeom>
          <a:solidFill>
            <a:srgbClr val="FFFFFF"/>
          </a:solidFill>
          <a:ln w="12700">
            <a:solidFill>
              <a:srgbClr val="E6E6E6"/>
            </a:solidFill>
            <a:prstDash val="solid"/>
          </a:ln>
        </p:spPr>
      </p:sp>
      <p:sp>
        <p:nvSpPr>
          <p:cNvPr id="19" name="Text 17"/>
          <p:cNvSpPr/>
          <p:nvPr/>
        </p:nvSpPr>
        <p:spPr>
          <a:xfrm>
            <a:off x="8791590" y="287652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Slack</a:t>
            </a:r>
            <a:endParaRPr lang="en-US" sz="1150" dirty="0"/>
          </a:p>
        </p:txBody>
      </p:sp>
      <p:sp>
        <p:nvSpPr>
          <p:cNvPr id="20" name="Shape 18"/>
          <p:cNvSpPr/>
          <p:nvPr/>
        </p:nvSpPr>
        <p:spPr>
          <a:xfrm>
            <a:off x="1047720" y="3600450"/>
            <a:ext cx="2409810" cy="571500"/>
          </a:xfrm>
          <a:prstGeom prst="roundRect">
            <a:avLst>
              <a:gd name="adj" fmla="val 23328"/>
            </a:avLst>
          </a:prstGeom>
          <a:solidFill>
            <a:srgbClr val="FFFFFF"/>
          </a:solidFill>
          <a:ln w="12700">
            <a:solidFill>
              <a:srgbClr val="E6E6E6"/>
            </a:solidFill>
            <a:prstDash val="solid"/>
          </a:ln>
        </p:spPr>
      </p:sp>
      <p:sp>
        <p:nvSpPr>
          <p:cNvPr id="21" name="Text 19"/>
          <p:cNvSpPr/>
          <p:nvPr/>
        </p:nvSpPr>
        <p:spPr>
          <a:xfrm>
            <a:off x="1104870" y="360045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MS Teams</a:t>
            </a:r>
            <a:endParaRPr lang="en-US" sz="1150" dirty="0"/>
          </a:p>
        </p:txBody>
      </p:sp>
      <p:sp>
        <p:nvSpPr>
          <p:cNvPr id="22" name="Shape 20"/>
          <p:cNvSpPr/>
          <p:nvPr/>
        </p:nvSpPr>
        <p:spPr>
          <a:xfrm>
            <a:off x="3609960" y="3600450"/>
            <a:ext cx="2409810" cy="571500"/>
          </a:xfrm>
          <a:prstGeom prst="roundRect">
            <a:avLst>
              <a:gd name="adj" fmla="val 23328"/>
            </a:avLst>
          </a:prstGeom>
          <a:solidFill>
            <a:srgbClr val="FFFFFF"/>
          </a:solidFill>
          <a:ln w="12700">
            <a:solidFill>
              <a:srgbClr val="E6E6E6"/>
            </a:solidFill>
            <a:prstDash val="solid"/>
          </a:ln>
        </p:spPr>
      </p:sp>
      <p:sp>
        <p:nvSpPr>
          <p:cNvPr id="23" name="Text 21"/>
          <p:cNvSpPr/>
          <p:nvPr/>
        </p:nvSpPr>
        <p:spPr>
          <a:xfrm>
            <a:off x="3667110" y="360045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Outlook</a:t>
            </a:r>
            <a:endParaRPr lang="en-US" sz="1150" dirty="0"/>
          </a:p>
        </p:txBody>
      </p:sp>
      <p:sp>
        <p:nvSpPr>
          <p:cNvPr id="24" name="Shape 22"/>
          <p:cNvSpPr/>
          <p:nvPr/>
        </p:nvSpPr>
        <p:spPr>
          <a:xfrm>
            <a:off x="6172200" y="3600450"/>
            <a:ext cx="2409810" cy="571500"/>
          </a:xfrm>
          <a:prstGeom prst="roundRect">
            <a:avLst>
              <a:gd name="adj" fmla="val 23328"/>
            </a:avLst>
          </a:prstGeom>
          <a:solidFill>
            <a:srgbClr val="FFFFFF"/>
          </a:solidFill>
          <a:ln w="12700">
            <a:solidFill>
              <a:srgbClr val="E6E6E6"/>
            </a:solidFill>
            <a:prstDash val="solid"/>
          </a:ln>
        </p:spPr>
      </p:sp>
      <p:sp>
        <p:nvSpPr>
          <p:cNvPr id="25" name="Text 23"/>
          <p:cNvSpPr/>
          <p:nvPr/>
        </p:nvSpPr>
        <p:spPr>
          <a:xfrm>
            <a:off x="6229350" y="3600450"/>
            <a:ext cx="2295510" cy="571500"/>
          </a:xfrm>
          <a:prstGeom prst="rect">
            <a:avLst/>
          </a:prstGeom>
          <a:noFill/>
          <a:ln/>
        </p:spPr>
        <p:txBody>
          <a:bodyPr wrap="square" lIns="0" tIns="0" rIns="0" bIns="0" rtlCol="0" anchor="ctr"/>
          <a:lstStyle/>
          <a:p>
            <a:pPr algn="ctr" indent="0" marL="0">
              <a:buNone/>
            </a:pPr>
            <a:r>
              <a:rPr lang="en-US" sz="1150" b="1" dirty="0">
                <a:solidFill>
                  <a:srgbClr val="323232"/>
                </a:solidFill>
                <a:latin typeface="Plus Jakarta Sans" pitchFamily="34" charset="0"/>
                <a:ea typeface="Plus Jakarta Sans" pitchFamily="34" charset="-122"/>
                <a:cs typeface="Plus Jakarta Sans" pitchFamily="34" charset="-120"/>
              </a:rPr>
              <a:t>Google Calendar</a:t>
            </a:r>
            <a:endParaRPr lang="en-US" sz="1150" dirty="0"/>
          </a:p>
        </p:txBody>
      </p:sp>
      <p:sp>
        <p:nvSpPr>
          <p:cNvPr id="26" name="Text 24"/>
          <p:cNvSpPr/>
          <p:nvPr/>
        </p:nvSpPr>
        <p:spPr>
          <a:xfrm>
            <a:off x="1047720" y="4457700"/>
            <a:ext cx="10096530" cy="476220"/>
          </a:xfrm>
          <a:prstGeom prst="rect">
            <a:avLst/>
          </a:prstGeom>
          <a:noFill/>
          <a:ln/>
        </p:spPr>
        <p:txBody>
          <a:bodyPr wrap="square" lIns="0" tIns="0" rIns="0" bIns="0" rtlCol="0" anchor="t"/>
          <a:lstStyle/>
          <a:p>
            <a:pPr indent="0" marL="0">
              <a:lnSpc>
                <a:spcPct val="140000"/>
              </a:lnSpc>
              <a:buNone/>
            </a:pPr>
            <a:r>
              <a:rPr lang="en-US" sz="1300" b="1" dirty="0">
                <a:solidFill>
                  <a:srgbClr val="02021E"/>
                </a:solidFill>
                <a:latin typeface="Plus Jakarta Sans" pitchFamily="34" charset="0"/>
                <a:ea typeface="Plus Jakarta Sans" pitchFamily="34" charset="-122"/>
                <a:cs typeface="Plus Jakarta Sans" pitchFamily="34" charset="-120"/>
              </a:rPr>
              <a:t>Read-only by default. </a:t>
            </a:r>
            <a:pPr indent="0" marL="0">
              <a:lnSpc>
                <a:spcPct val="140000"/>
              </a:lnSpc>
              <a:buNone/>
            </a:pPr>
            <a:r>
              <a:rPr lang="en-US" sz="1300" dirty="0">
                <a:solidFill>
                  <a:srgbClr val="505050"/>
                </a:solidFill>
                <a:latin typeface="Plus Jakarta Sans" pitchFamily="34" charset="0"/>
                <a:ea typeface="Plus Jakarta Sans" pitchFamily="34" charset="-122"/>
                <a:cs typeface="Plus Jakarta Sans" pitchFamily="34" charset="-120"/>
              </a:rPr>
              <a:t>Alfred only acts inside a connected tool when you explicitly approve it — and every action is logged in your audit trail.</a:t>
            </a:r>
            <a:endParaRPr lang="en-US" sz="1300" dirty="0"/>
          </a:p>
        </p:txBody>
      </p:sp>
      <p:sp>
        <p:nvSpPr>
          <p:cNvPr id="27" name="Text 25"/>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ROADMAP</a:t>
            </a:r>
            <a:endParaRPr lang="en-US" sz="1100" dirty="0"/>
          </a:p>
        </p:txBody>
      </p:sp>
      <p:sp>
        <p:nvSpPr>
          <p:cNvPr id="3" name="Text 1"/>
          <p:cNvSpPr/>
          <p:nvPr/>
        </p:nvSpPr>
        <p:spPr>
          <a:xfrm>
            <a:off x="1047720" y="1104870"/>
            <a:ext cx="10096530" cy="533370"/>
          </a:xfrm>
          <a:prstGeom prst="rect">
            <a:avLst/>
          </a:prstGeom>
          <a:noFill/>
          <a:ln/>
        </p:spPr>
        <p:txBody>
          <a:bodyPr wrap="square" lIns="0" tIns="0" rIns="0" bIns="0" rtlCol="0" anchor="t"/>
          <a:lstStyle/>
          <a:p>
            <a:pPr algn="l" indent="0" marL="0">
              <a:buNone/>
            </a:pPr>
            <a:r>
              <a:rPr lang="en-US" sz="3400" b="1" spc="-60" kern="0" dirty="0">
                <a:solidFill>
                  <a:srgbClr val="02021E"/>
                </a:solidFill>
                <a:latin typeface="Bricolage Grotesque" pitchFamily="34" charset="0"/>
                <a:ea typeface="Bricolage Grotesque" pitchFamily="34" charset="-122"/>
                <a:cs typeface="Bricolage Grotesque" pitchFamily="34" charset="-120"/>
              </a:rPr>
              <a:t>Live today. Building toward the full platform.</a:t>
            </a:r>
            <a:endParaRPr lang="en-US" sz="3400" dirty="0"/>
          </a:p>
        </p:txBody>
      </p:sp>
      <p:sp>
        <p:nvSpPr>
          <p:cNvPr id="4" name="Shape 2"/>
          <p:cNvSpPr/>
          <p:nvPr/>
        </p:nvSpPr>
        <p:spPr>
          <a:xfrm>
            <a:off x="1047720" y="2324130"/>
            <a:ext cx="3209910" cy="2152680"/>
          </a:xfrm>
          <a:prstGeom prst="roundRect">
            <a:avLst>
              <a:gd name="adj" fmla="val 10619"/>
            </a:avLst>
          </a:prstGeom>
          <a:solidFill>
            <a:srgbClr val="FFFFFF"/>
          </a:solidFill>
          <a:ln w="12700">
            <a:solidFill>
              <a:srgbClr val="E6E6E6"/>
            </a:solidFill>
            <a:prstDash val="solid"/>
          </a:ln>
          <a:effectLst>
            <a:outerShdw sx="100000" sy="100000" kx="0" ky="0" algn="bl" rotWithShape="0" blurRad="1.082803747856302e+34" dist="3.3837617120509443e+33" dir="1.5116544e+40">
              <a:srgbClr val="9CA3AF">
                <a:alpha val="1.6e+39"/>
              </a:srgbClr>
            </a:outerShdw>
          </a:effectLst>
        </p:spPr>
      </p:sp>
      <p:sp>
        <p:nvSpPr>
          <p:cNvPr id="5" name="Shape 3"/>
          <p:cNvSpPr/>
          <p:nvPr/>
        </p:nvSpPr>
        <p:spPr>
          <a:xfrm>
            <a:off x="1295430" y="2571750"/>
            <a:ext cx="571500" cy="247620"/>
          </a:xfrm>
          <a:prstGeom prst="roundRect">
            <a:avLst>
              <a:gd name="adj" fmla="val 50000"/>
            </a:avLst>
          </a:prstGeom>
          <a:solidFill>
            <a:srgbClr val="E3F6EE"/>
          </a:solidFill>
          <a:ln/>
        </p:spPr>
      </p:sp>
      <p:sp>
        <p:nvSpPr>
          <p:cNvPr id="6" name="Text 4"/>
          <p:cNvSpPr/>
          <p:nvPr/>
        </p:nvSpPr>
        <p:spPr>
          <a:xfrm>
            <a:off x="1295430" y="2562240"/>
            <a:ext cx="571500" cy="247620"/>
          </a:xfrm>
          <a:prstGeom prst="rect">
            <a:avLst/>
          </a:prstGeom>
          <a:noFill/>
          <a:ln/>
        </p:spPr>
        <p:txBody>
          <a:bodyPr wrap="square" lIns="0" tIns="0" rIns="0" bIns="0" rtlCol="0" anchor="ctr"/>
          <a:lstStyle/>
          <a:p>
            <a:pPr algn="ctr" indent="0" marL="0">
              <a:buNone/>
            </a:pPr>
            <a:r>
              <a:rPr lang="en-US" sz="1000" b="1" spc="30" kern="0" dirty="0">
                <a:solidFill>
                  <a:srgbClr val="1E9466"/>
                </a:solidFill>
                <a:latin typeface="Plus Jakarta Sans" pitchFamily="34" charset="0"/>
                <a:ea typeface="Plus Jakarta Sans" pitchFamily="34" charset="-122"/>
                <a:cs typeface="Plus Jakarta Sans" pitchFamily="34" charset="-120"/>
              </a:rPr>
              <a:t>LIVE</a:t>
            </a:r>
            <a:endParaRPr lang="en-US" sz="1000" dirty="0"/>
          </a:p>
        </p:txBody>
      </p:sp>
      <p:sp>
        <p:nvSpPr>
          <p:cNvPr id="7" name="Text 5"/>
          <p:cNvSpPr/>
          <p:nvPr/>
        </p:nvSpPr>
        <p:spPr>
          <a:xfrm>
            <a:off x="1295430" y="3067080"/>
            <a:ext cx="2714671" cy="323880"/>
          </a:xfrm>
          <a:prstGeom prst="rect">
            <a:avLst/>
          </a:prstGeom>
          <a:noFill/>
          <a:ln/>
        </p:spPr>
        <p:txBody>
          <a:bodyPr wrap="square" lIns="0" tIns="0" rIns="0" bIns="0" rtlCol="0" anchor="t"/>
          <a:lstStyle/>
          <a:p>
            <a:pPr algn="l" indent="0" marL="0">
              <a:buNone/>
            </a:pPr>
            <a:r>
              <a:rPr lang="en-US" sz="1700" b="1" spc="-20" kern="0" dirty="0">
                <a:solidFill>
                  <a:srgbClr val="02021E"/>
                </a:solidFill>
                <a:latin typeface="Bricolage Grotesque" pitchFamily="34" charset="0"/>
                <a:ea typeface="Bricolage Grotesque" pitchFamily="34" charset="-122"/>
                <a:cs typeface="Bricolage Grotesque" pitchFamily="34" charset="-120"/>
              </a:rPr>
              <a:t>Alfred for Marketing</a:t>
            </a:r>
            <a:endParaRPr lang="en-US" sz="1700" dirty="0"/>
          </a:p>
        </p:txBody>
      </p:sp>
      <p:sp>
        <p:nvSpPr>
          <p:cNvPr id="8" name="Text 6"/>
          <p:cNvSpPr/>
          <p:nvPr/>
        </p:nvSpPr>
        <p:spPr>
          <a:xfrm>
            <a:off x="1295430" y="3448020"/>
            <a:ext cx="2714671" cy="323880"/>
          </a:xfrm>
          <a:prstGeom prst="rect">
            <a:avLst/>
          </a:prstGeom>
          <a:noFill/>
          <a:ln/>
        </p:spPr>
        <p:txBody>
          <a:bodyPr wrap="square" lIns="0" tIns="0" rIns="0" bIns="0" rtlCol="0" anchor="t"/>
          <a:lstStyle/>
          <a:p>
            <a:pPr algn="l" indent="0" marL="0">
              <a:buNone/>
            </a:pPr>
            <a:r>
              <a:rPr lang="en-US" sz="1700" b="1" spc="-20" kern="0" dirty="0">
                <a:solidFill>
                  <a:srgbClr val="02021E"/>
                </a:solidFill>
                <a:latin typeface="Bricolage Grotesque" pitchFamily="34" charset="0"/>
                <a:ea typeface="Bricolage Grotesque" pitchFamily="34" charset="-122"/>
                <a:cs typeface="Bricolage Grotesque" pitchFamily="34" charset="-120"/>
              </a:rPr>
              <a:t>Alfred for Sales</a:t>
            </a:r>
            <a:endParaRPr lang="en-US" sz="1700" dirty="0"/>
          </a:p>
        </p:txBody>
      </p:sp>
      <p:sp>
        <p:nvSpPr>
          <p:cNvPr id="9" name="Shape 7"/>
          <p:cNvSpPr/>
          <p:nvPr/>
        </p:nvSpPr>
        <p:spPr>
          <a:xfrm>
            <a:off x="4486321" y="2324130"/>
            <a:ext cx="3209910" cy="2152680"/>
          </a:xfrm>
          <a:prstGeom prst="roundRect">
            <a:avLst>
              <a:gd name="adj" fmla="val 10619"/>
            </a:avLst>
          </a:prstGeom>
          <a:solidFill>
            <a:srgbClr val="FFFFFF"/>
          </a:solidFill>
          <a:ln w="12700">
            <a:solidFill>
              <a:srgbClr val="E6E6E6"/>
            </a:solidFill>
            <a:prstDash val="solid"/>
          </a:ln>
          <a:effectLst>
            <a:outerShdw sx="100000" sy="100000" kx="0" ky="0" algn="bl" rotWithShape="0" blurRad="1.3751607597775036e+38" dist="4.297377374304699e+37" dir="9.069926400000001e+44">
              <a:srgbClr val="9CA3AF">
                <a:alpha val="1.6e+44"/>
              </a:srgbClr>
            </a:outerShdw>
          </a:effectLst>
        </p:spPr>
      </p:sp>
      <p:sp>
        <p:nvSpPr>
          <p:cNvPr id="10" name="Shape 8"/>
          <p:cNvSpPr/>
          <p:nvPr/>
        </p:nvSpPr>
        <p:spPr>
          <a:xfrm>
            <a:off x="4733940" y="2571750"/>
            <a:ext cx="1314450" cy="247620"/>
          </a:xfrm>
          <a:prstGeom prst="roundRect">
            <a:avLst>
              <a:gd name="adj" fmla="val 50000"/>
            </a:avLst>
          </a:prstGeom>
          <a:solidFill>
            <a:srgbClr val="F3F3FF"/>
          </a:solidFill>
          <a:ln/>
        </p:spPr>
      </p:sp>
      <p:sp>
        <p:nvSpPr>
          <p:cNvPr id="11" name="Text 9"/>
          <p:cNvSpPr/>
          <p:nvPr/>
        </p:nvSpPr>
        <p:spPr>
          <a:xfrm>
            <a:off x="4733940" y="2562240"/>
            <a:ext cx="1314450" cy="247620"/>
          </a:xfrm>
          <a:prstGeom prst="rect">
            <a:avLst/>
          </a:prstGeom>
          <a:noFill/>
          <a:ln/>
        </p:spPr>
        <p:txBody>
          <a:bodyPr wrap="square" lIns="0" tIns="0" rIns="0" bIns="0" rtlCol="0" anchor="ctr"/>
          <a:lstStyle/>
          <a:p>
            <a:pPr algn="ctr" indent="0" marL="0">
              <a:buNone/>
            </a:pPr>
            <a:r>
              <a:rPr lang="en-US" sz="1000" b="1" spc="30" kern="0" dirty="0">
                <a:solidFill>
                  <a:srgbClr val="7B7BF5"/>
                </a:solidFill>
                <a:latin typeface="Plus Jakarta Sans" pitchFamily="34" charset="0"/>
                <a:ea typeface="Plus Jakarta Sans" pitchFamily="34" charset="-122"/>
                <a:cs typeface="Plus Jakarta Sans" pitchFamily="34" charset="-120"/>
              </a:rPr>
              <a:t>IN DEVELOPMENT</a:t>
            </a:r>
            <a:endParaRPr lang="en-US" sz="1000" dirty="0"/>
          </a:p>
        </p:txBody>
      </p:sp>
      <p:sp>
        <p:nvSpPr>
          <p:cNvPr id="12" name="Text 10"/>
          <p:cNvSpPr/>
          <p:nvPr/>
        </p:nvSpPr>
        <p:spPr>
          <a:xfrm>
            <a:off x="4733940" y="3067080"/>
            <a:ext cx="2714671" cy="323880"/>
          </a:xfrm>
          <a:prstGeom prst="rect">
            <a:avLst/>
          </a:prstGeom>
          <a:noFill/>
          <a:ln/>
        </p:spPr>
        <p:txBody>
          <a:bodyPr wrap="square" lIns="0" tIns="0" rIns="0" bIns="0" rtlCol="0" anchor="t"/>
          <a:lstStyle/>
          <a:p>
            <a:pPr algn="l" indent="0" marL="0">
              <a:buNone/>
            </a:pPr>
            <a:r>
              <a:rPr lang="en-US" sz="1700" b="1" spc="-20" kern="0" dirty="0">
                <a:solidFill>
                  <a:srgbClr val="02021E"/>
                </a:solidFill>
                <a:latin typeface="Bricolage Grotesque" pitchFamily="34" charset="0"/>
                <a:ea typeface="Bricolage Grotesque" pitchFamily="34" charset="-122"/>
                <a:cs typeface="Bricolage Grotesque" pitchFamily="34" charset="-120"/>
              </a:rPr>
              <a:t>Alfred for Finance</a:t>
            </a:r>
            <a:endParaRPr lang="en-US" sz="1700" dirty="0"/>
          </a:p>
        </p:txBody>
      </p:sp>
      <p:sp>
        <p:nvSpPr>
          <p:cNvPr id="13" name="Text 11"/>
          <p:cNvSpPr/>
          <p:nvPr/>
        </p:nvSpPr>
        <p:spPr>
          <a:xfrm>
            <a:off x="4733940" y="3448020"/>
            <a:ext cx="2714671" cy="323880"/>
          </a:xfrm>
          <a:prstGeom prst="rect">
            <a:avLst/>
          </a:prstGeom>
          <a:noFill/>
          <a:ln/>
        </p:spPr>
        <p:txBody>
          <a:bodyPr wrap="square" lIns="0" tIns="0" rIns="0" bIns="0" rtlCol="0" anchor="t"/>
          <a:lstStyle/>
          <a:p>
            <a:pPr algn="l" indent="0" marL="0">
              <a:buNone/>
            </a:pPr>
            <a:r>
              <a:rPr lang="en-US" sz="1700" b="1" spc="-20" kern="0" dirty="0">
                <a:solidFill>
                  <a:srgbClr val="02021E"/>
                </a:solidFill>
                <a:latin typeface="Bricolage Grotesque" pitchFamily="34" charset="0"/>
                <a:ea typeface="Bricolage Grotesque" pitchFamily="34" charset="-122"/>
                <a:cs typeface="Bricolage Grotesque" pitchFamily="34" charset="-120"/>
              </a:rPr>
              <a:t>Alfred for Operations</a:t>
            </a:r>
            <a:endParaRPr lang="en-US" sz="1700" dirty="0"/>
          </a:p>
        </p:txBody>
      </p:sp>
      <p:sp>
        <p:nvSpPr>
          <p:cNvPr id="14" name="Shape 12"/>
          <p:cNvSpPr/>
          <p:nvPr/>
        </p:nvSpPr>
        <p:spPr>
          <a:xfrm>
            <a:off x="7924830" y="2324130"/>
            <a:ext cx="3209910" cy="2152680"/>
          </a:xfrm>
          <a:prstGeom prst="roundRect">
            <a:avLst>
              <a:gd name="adj" fmla="val 10619"/>
            </a:avLst>
          </a:prstGeom>
          <a:solidFill>
            <a:srgbClr val="FFFFFF"/>
          </a:solidFill>
          <a:ln w="12700">
            <a:solidFill>
              <a:srgbClr val="E6E6E6"/>
            </a:solidFill>
            <a:prstDash val="solid"/>
          </a:ln>
          <a:effectLst>
            <a:outerShdw sx="100000" sy="100000" kx="0" ky="0" algn="bl" rotWithShape="0" blurRad="1.7464541649174296e+42" dist="5.457669265366968e+41" dir="5.44195584e+49">
              <a:srgbClr val="9CA3AF">
                <a:alpha val="1.6e+49"/>
              </a:srgbClr>
            </a:outerShdw>
          </a:effectLst>
        </p:spPr>
      </p:sp>
      <p:sp>
        <p:nvSpPr>
          <p:cNvPr id="15" name="Shape 13"/>
          <p:cNvSpPr/>
          <p:nvPr/>
        </p:nvSpPr>
        <p:spPr>
          <a:xfrm>
            <a:off x="8172450" y="2571750"/>
            <a:ext cx="819120" cy="247620"/>
          </a:xfrm>
          <a:prstGeom prst="roundRect">
            <a:avLst>
              <a:gd name="adj" fmla="val 50000"/>
            </a:avLst>
          </a:prstGeom>
          <a:solidFill>
            <a:srgbClr val="F1F1F1"/>
          </a:solidFill>
          <a:ln/>
        </p:spPr>
      </p:sp>
      <p:sp>
        <p:nvSpPr>
          <p:cNvPr id="16" name="Text 14"/>
          <p:cNvSpPr/>
          <p:nvPr/>
        </p:nvSpPr>
        <p:spPr>
          <a:xfrm>
            <a:off x="8172450" y="2562240"/>
            <a:ext cx="819120" cy="247620"/>
          </a:xfrm>
          <a:prstGeom prst="rect">
            <a:avLst/>
          </a:prstGeom>
          <a:noFill/>
          <a:ln/>
        </p:spPr>
        <p:txBody>
          <a:bodyPr wrap="square" lIns="0" tIns="0" rIns="0" bIns="0" rtlCol="0" anchor="ctr"/>
          <a:lstStyle/>
          <a:p>
            <a:pPr algn="ctr" indent="0" marL="0">
              <a:buNone/>
            </a:pPr>
            <a:r>
              <a:rPr lang="en-US" sz="1000" b="1" spc="30" kern="0" dirty="0">
                <a:solidFill>
                  <a:srgbClr val="505050"/>
                </a:solidFill>
                <a:latin typeface="Plus Jakarta Sans" pitchFamily="34" charset="0"/>
                <a:ea typeface="Plus Jakarta Sans" pitchFamily="34" charset="-122"/>
                <a:cs typeface="Plus Jakarta Sans" pitchFamily="34" charset="-120"/>
              </a:rPr>
              <a:t>PLANNED</a:t>
            </a:r>
            <a:endParaRPr lang="en-US" sz="1000" dirty="0"/>
          </a:p>
        </p:txBody>
      </p:sp>
      <p:sp>
        <p:nvSpPr>
          <p:cNvPr id="17" name="Text 15"/>
          <p:cNvSpPr/>
          <p:nvPr/>
        </p:nvSpPr>
        <p:spPr>
          <a:xfrm>
            <a:off x="8172450" y="3067080"/>
            <a:ext cx="2714671" cy="323880"/>
          </a:xfrm>
          <a:prstGeom prst="rect">
            <a:avLst/>
          </a:prstGeom>
          <a:noFill/>
          <a:ln/>
        </p:spPr>
        <p:txBody>
          <a:bodyPr wrap="square" lIns="0" tIns="0" rIns="0" bIns="0" rtlCol="0" anchor="t"/>
          <a:lstStyle/>
          <a:p>
            <a:pPr algn="l" indent="0" marL="0">
              <a:buNone/>
            </a:pPr>
            <a:r>
              <a:rPr lang="en-US" sz="1700" b="1" spc="-20" kern="0" dirty="0">
                <a:solidFill>
                  <a:srgbClr val="02021E"/>
                </a:solidFill>
                <a:latin typeface="Bricolage Grotesque" pitchFamily="34" charset="0"/>
                <a:ea typeface="Bricolage Grotesque" pitchFamily="34" charset="-122"/>
                <a:cs typeface="Bricolage Grotesque" pitchFamily="34" charset="-120"/>
              </a:rPr>
              <a:t>Alfred for CEO / Founder</a:t>
            </a:r>
            <a:endParaRPr lang="en-US" sz="1700" dirty="0"/>
          </a:p>
        </p:txBody>
      </p:sp>
      <p:sp>
        <p:nvSpPr>
          <p:cNvPr id="18" name="Text 16"/>
          <p:cNvSpPr/>
          <p:nvPr/>
        </p:nvSpPr>
        <p:spPr>
          <a:xfrm>
            <a:off x="1047720" y="4876770"/>
            <a:ext cx="10096530" cy="381030"/>
          </a:xfrm>
          <a:prstGeom prst="rect">
            <a:avLst/>
          </a:prstGeom>
          <a:noFill/>
          <a:ln/>
        </p:spPr>
        <p:txBody>
          <a:bodyPr wrap="square" lIns="0" tIns="0" rIns="0" bIns="0" rtlCol="0" anchor="t"/>
          <a:lstStyle/>
          <a:p>
            <a:pPr algn="l" indent="0" marL="0">
              <a:lnSpc>
                <a:spcPct val="140000"/>
              </a:lnSpc>
              <a:buNone/>
            </a:pPr>
            <a:r>
              <a:rPr lang="en-US" sz="1250" dirty="0">
                <a:solidFill>
                  <a:srgbClr val="6B6B78"/>
                </a:solidFill>
                <a:latin typeface="Plus Jakarta Sans" pitchFamily="34" charset="0"/>
                <a:ea typeface="Plus Jakarta Sans" pitchFamily="34" charset="-122"/>
                <a:cs typeface="Plus Jakarta Sans" pitchFamily="34" charset="-120"/>
              </a:rPr>
              <a:t>Every module added extends the same memory. The platform gets more valuable with every function it connects.</a:t>
            </a:r>
            <a:endParaRPr lang="en-US" sz="1250" dirty="0"/>
          </a:p>
        </p:txBody>
      </p:sp>
      <p:sp>
        <p:nvSpPr>
          <p:cNvPr id="19" name="Text 17"/>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47720" y="876270"/>
            <a:ext cx="9334470" cy="209580"/>
          </a:xfrm>
          <a:prstGeom prst="rect">
            <a:avLst/>
          </a:prstGeom>
          <a:noFill/>
          <a:ln/>
        </p:spPr>
        <p:txBody>
          <a:bodyPr wrap="square" lIns="0" tIns="0" rIns="0" bIns="0" rtlCol="0" anchor="ctr"/>
          <a:lstStyle/>
          <a:p>
            <a:pPr algn="l" indent="0" marL="0">
              <a:buNone/>
            </a:pPr>
            <a:r>
              <a:rPr lang="en-US" sz="1100" b="1" spc="160" kern="0" dirty="0">
                <a:solidFill>
                  <a:srgbClr val="7B7BF5"/>
                </a:solidFill>
                <a:latin typeface="Plus Jakarta Sans" pitchFamily="34" charset="0"/>
                <a:ea typeface="Plus Jakarta Sans" pitchFamily="34" charset="-122"/>
                <a:cs typeface="Plus Jakarta Sans" pitchFamily="34" charset="-120"/>
              </a:rPr>
              <a:t>GET STARTED</a:t>
            </a:r>
            <a:endParaRPr lang="en-US" sz="1100" dirty="0"/>
          </a:p>
        </p:txBody>
      </p:sp>
      <p:sp>
        <p:nvSpPr>
          <p:cNvPr id="3" name="Text 1"/>
          <p:cNvSpPr/>
          <p:nvPr/>
        </p:nvSpPr>
        <p:spPr>
          <a:xfrm>
            <a:off x="1047720" y="1104870"/>
            <a:ext cx="10096530" cy="571500"/>
          </a:xfrm>
          <a:prstGeom prst="rect">
            <a:avLst/>
          </a:prstGeom>
          <a:noFill/>
          <a:ln/>
        </p:spPr>
        <p:txBody>
          <a:bodyPr wrap="square" lIns="0" tIns="0" rIns="0" bIns="0" rtlCol="0" anchor="t"/>
          <a:lstStyle/>
          <a:p>
            <a:pPr algn="l" indent="0" marL="0">
              <a:buNone/>
            </a:pPr>
            <a:r>
              <a:rPr lang="en-US" sz="3600" b="1" spc="-60" kern="0" dirty="0">
                <a:solidFill>
                  <a:srgbClr val="02021E"/>
                </a:solidFill>
                <a:latin typeface="Bricolage Grotesque" pitchFamily="34" charset="0"/>
                <a:ea typeface="Bricolage Grotesque" pitchFamily="34" charset="-122"/>
                <a:cs typeface="Bricolage Grotesque" pitchFamily="34" charset="-120"/>
              </a:rPr>
              <a:t>From signup to first brief in under a week.</a:t>
            </a:r>
            <a:endParaRPr lang="en-US" sz="3600" dirty="0"/>
          </a:p>
        </p:txBody>
      </p:sp>
      <p:sp>
        <p:nvSpPr>
          <p:cNvPr id="4" name="Shape 2"/>
          <p:cNvSpPr/>
          <p:nvPr/>
        </p:nvSpPr>
        <p:spPr>
          <a:xfrm>
            <a:off x="1562070" y="3038460"/>
            <a:ext cx="3022641" cy="0"/>
          </a:xfrm>
          <a:prstGeom prst="line">
            <a:avLst/>
          </a:prstGeom>
          <a:noFill/>
          <a:ln w="25400">
            <a:solidFill>
              <a:srgbClr val="E6E6E6"/>
            </a:solidFill>
            <a:prstDash val="solid"/>
          </a:ln>
        </p:spPr>
      </p:sp>
      <p:sp>
        <p:nvSpPr>
          <p:cNvPr id="5" name="Shape 3"/>
          <p:cNvSpPr/>
          <p:nvPr/>
        </p:nvSpPr>
        <p:spPr>
          <a:xfrm>
            <a:off x="5003780" y="3038460"/>
            <a:ext cx="3022641" cy="0"/>
          </a:xfrm>
          <a:prstGeom prst="line">
            <a:avLst/>
          </a:prstGeom>
          <a:noFill/>
          <a:ln w="25400">
            <a:solidFill>
              <a:srgbClr val="E6E6E6"/>
            </a:solidFill>
            <a:prstDash val="solid"/>
          </a:ln>
        </p:spPr>
      </p:sp>
      <p:sp>
        <p:nvSpPr>
          <p:cNvPr id="6" name="Shape 4"/>
          <p:cNvSpPr/>
          <p:nvPr/>
        </p:nvSpPr>
        <p:spPr>
          <a:xfrm>
            <a:off x="1047720" y="2857500"/>
            <a:ext cx="381030" cy="381030"/>
          </a:xfrm>
          <a:prstGeom prst="roundRect">
            <a:avLst>
              <a:gd name="adj" fmla="val 29998"/>
            </a:avLst>
          </a:prstGeom>
          <a:solidFill>
            <a:srgbClr val="FF8431"/>
          </a:solidFill>
          <a:ln/>
          <a:effectLst>
            <a:outerShdw sx="100000" sy="100000" kx="0" ky="0" algn="bl" rotWithShape="0" blurRad="127000" dist="38100" dir="5400000">
              <a:srgbClr val="FF8431">
                <a:alpha val="45000"/>
              </a:srgbClr>
            </a:outerShdw>
          </a:effectLst>
        </p:spPr>
      </p:sp>
      <p:sp>
        <p:nvSpPr>
          <p:cNvPr id="7" name="Text 5"/>
          <p:cNvSpPr/>
          <p:nvPr/>
        </p:nvSpPr>
        <p:spPr>
          <a:xfrm>
            <a:off x="1047720" y="2857500"/>
            <a:ext cx="381030" cy="381030"/>
          </a:xfrm>
          <a:prstGeom prst="rect">
            <a:avLst/>
          </a:prstGeom>
          <a:noFill/>
          <a:ln/>
        </p:spPr>
        <p:txBody>
          <a:bodyPr wrap="square" lIns="0" tIns="0" rIns="0" bIns="0" rtlCol="0" anchor="ctr"/>
          <a:lstStyle/>
          <a:p>
            <a:pPr algn="ctr" indent="0" marL="0">
              <a:buNone/>
            </a:pPr>
            <a:r>
              <a:rPr lang="en-US" sz="1500" b="1" dirty="0">
                <a:solidFill>
                  <a:srgbClr val="FFFFFF"/>
                </a:solidFill>
                <a:latin typeface="Bricolage Grotesque" pitchFamily="34" charset="0"/>
                <a:ea typeface="Bricolage Grotesque" pitchFamily="34" charset="-122"/>
                <a:cs typeface="Bricolage Grotesque" pitchFamily="34" charset="-120"/>
              </a:rPr>
              <a:t>1</a:t>
            </a:r>
            <a:endParaRPr lang="en-US" sz="1500" dirty="0"/>
          </a:p>
        </p:txBody>
      </p:sp>
      <p:sp>
        <p:nvSpPr>
          <p:cNvPr id="8" name="Text 6"/>
          <p:cNvSpPr/>
          <p:nvPr/>
        </p:nvSpPr>
        <p:spPr>
          <a:xfrm>
            <a:off x="1047720" y="3409980"/>
            <a:ext cx="3117830" cy="285750"/>
          </a:xfrm>
          <a:prstGeom prst="rect">
            <a:avLst/>
          </a:prstGeom>
          <a:noFill/>
          <a:ln/>
        </p:spPr>
        <p:txBody>
          <a:bodyPr wrap="square" lIns="0" tIns="0" rIns="0" bIns="0" rtlCol="0" anchor="t"/>
          <a:lstStyle/>
          <a:p>
            <a:pPr algn="l" indent="0" marL="0">
              <a:buNone/>
            </a:pPr>
            <a:r>
              <a:rPr lang="en-US" sz="1600" b="1" spc="-20" kern="0" dirty="0">
                <a:solidFill>
                  <a:srgbClr val="02021E"/>
                </a:solidFill>
                <a:latin typeface="Bricolage Grotesque" pitchFamily="34" charset="0"/>
                <a:ea typeface="Bricolage Grotesque" pitchFamily="34" charset="-122"/>
                <a:cs typeface="Bricolage Grotesque" pitchFamily="34" charset="-120"/>
              </a:rPr>
              <a:t>Week 1 — Connect</a:t>
            </a:r>
            <a:endParaRPr lang="en-US" sz="1600" dirty="0"/>
          </a:p>
        </p:txBody>
      </p:sp>
      <p:sp>
        <p:nvSpPr>
          <p:cNvPr id="9" name="Text 7"/>
          <p:cNvSpPr/>
          <p:nvPr/>
        </p:nvSpPr>
        <p:spPr>
          <a:xfrm>
            <a:off x="1047720" y="3733770"/>
            <a:ext cx="3098810" cy="1333470"/>
          </a:xfrm>
          <a:prstGeom prst="rect">
            <a:avLst/>
          </a:prstGeom>
          <a:noFill/>
          <a:ln/>
        </p:spPr>
        <p:txBody>
          <a:bodyPr wrap="square" lIns="0" tIns="0" rIns="0" bIns="0" rtlCol="0" anchor="t"/>
          <a:lstStyle/>
          <a:p>
            <a:pPr algn="l" indent="0" marL="0">
              <a:lnSpc>
                <a:spcPct val="132000"/>
              </a:lnSpc>
              <a:buNone/>
            </a:pPr>
            <a:r>
              <a:rPr lang="en-US" sz="1150" dirty="0">
                <a:solidFill>
                  <a:srgbClr val="505050"/>
                </a:solidFill>
                <a:latin typeface="Plus Jakarta Sans" pitchFamily="34" charset="0"/>
                <a:ea typeface="Plus Jakarta Sans" pitchFamily="34" charset="-122"/>
                <a:cs typeface="Plus Jakarta Sans" pitchFamily="34" charset="-120"/>
              </a:rPr>
              <a:t>Secure integrations. Historical data synced. Zero engineering required.</a:t>
            </a:r>
            <a:endParaRPr lang="en-US" sz="1150" dirty="0"/>
          </a:p>
        </p:txBody>
      </p:sp>
      <p:sp>
        <p:nvSpPr>
          <p:cNvPr id="10" name="Shape 8"/>
          <p:cNvSpPr/>
          <p:nvPr/>
        </p:nvSpPr>
        <p:spPr>
          <a:xfrm>
            <a:off x="4489430" y="2857500"/>
            <a:ext cx="381030" cy="381030"/>
          </a:xfrm>
          <a:prstGeom prst="roundRect">
            <a:avLst>
              <a:gd name="adj" fmla="val 29998"/>
            </a:avLst>
          </a:prstGeom>
          <a:solidFill>
            <a:srgbClr val="FF8431"/>
          </a:solidFill>
          <a:ln/>
          <a:effectLst>
            <a:outerShdw sx="100000" sy="100000" kx="0" ky="0" algn="bl" rotWithShape="0" blurRad="127000" dist="38100" dir="5400000">
              <a:srgbClr val="FF8431">
                <a:alpha val="45000"/>
              </a:srgbClr>
            </a:outerShdw>
          </a:effectLst>
        </p:spPr>
      </p:sp>
      <p:sp>
        <p:nvSpPr>
          <p:cNvPr id="11" name="Text 9"/>
          <p:cNvSpPr/>
          <p:nvPr/>
        </p:nvSpPr>
        <p:spPr>
          <a:xfrm>
            <a:off x="4489430" y="2857500"/>
            <a:ext cx="381030" cy="381030"/>
          </a:xfrm>
          <a:prstGeom prst="rect">
            <a:avLst/>
          </a:prstGeom>
          <a:noFill/>
          <a:ln/>
        </p:spPr>
        <p:txBody>
          <a:bodyPr wrap="square" lIns="0" tIns="0" rIns="0" bIns="0" rtlCol="0" anchor="ctr"/>
          <a:lstStyle/>
          <a:p>
            <a:pPr algn="ctr" indent="0" marL="0">
              <a:buNone/>
            </a:pPr>
            <a:r>
              <a:rPr lang="en-US" sz="1500" b="1" dirty="0">
                <a:solidFill>
                  <a:srgbClr val="FFFFFF"/>
                </a:solidFill>
                <a:latin typeface="Bricolage Grotesque" pitchFamily="34" charset="0"/>
                <a:ea typeface="Bricolage Grotesque" pitchFamily="34" charset="-122"/>
                <a:cs typeface="Bricolage Grotesque" pitchFamily="34" charset="-120"/>
              </a:rPr>
              <a:t>2</a:t>
            </a:r>
            <a:endParaRPr lang="en-US" sz="1500" dirty="0"/>
          </a:p>
        </p:txBody>
      </p:sp>
      <p:sp>
        <p:nvSpPr>
          <p:cNvPr id="12" name="Text 10"/>
          <p:cNvSpPr/>
          <p:nvPr/>
        </p:nvSpPr>
        <p:spPr>
          <a:xfrm>
            <a:off x="4489430" y="3409980"/>
            <a:ext cx="3117830" cy="285750"/>
          </a:xfrm>
          <a:prstGeom prst="rect">
            <a:avLst/>
          </a:prstGeom>
          <a:noFill/>
          <a:ln/>
        </p:spPr>
        <p:txBody>
          <a:bodyPr wrap="square" lIns="0" tIns="0" rIns="0" bIns="0" rtlCol="0" anchor="t"/>
          <a:lstStyle/>
          <a:p>
            <a:pPr algn="l" indent="0" marL="0">
              <a:buNone/>
            </a:pPr>
            <a:r>
              <a:rPr lang="en-US" sz="1600" b="1" spc="-20" kern="0" dirty="0">
                <a:solidFill>
                  <a:srgbClr val="02021E"/>
                </a:solidFill>
                <a:latin typeface="Bricolage Grotesque" pitchFamily="34" charset="0"/>
                <a:ea typeface="Bricolage Grotesque" pitchFamily="34" charset="-122"/>
                <a:cs typeface="Bricolage Grotesque" pitchFamily="34" charset="-120"/>
              </a:rPr>
              <a:t>Weeks 1–2 — Calibrate</a:t>
            </a:r>
            <a:endParaRPr lang="en-US" sz="1600" dirty="0"/>
          </a:p>
        </p:txBody>
      </p:sp>
      <p:sp>
        <p:nvSpPr>
          <p:cNvPr id="13" name="Text 11"/>
          <p:cNvSpPr/>
          <p:nvPr/>
        </p:nvSpPr>
        <p:spPr>
          <a:xfrm>
            <a:off x="4489430" y="3733770"/>
            <a:ext cx="3098810" cy="1333470"/>
          </a:xfrm>
          <a:prstGeom prst="rect">
            <a:avLst/>
          </a:prstGeom>
          <a:noFill/>
          <a:ln/>
        </p:spPr>
        <p:txBody>
          <a:bodyPr wrap="square" lIns="0" tIns="0" rIns="0" bIns="0" rtlCol="0" anchor="t"/>
          <a:lstStyle/>
          <a:p>
            <a:pPr algn="l" indent="0" marL="0">
              <a:lnSpc>
                <a:spcPct val="132000"/>
              </a:lnSpc>
              <a:buNone/>
            </a:pPr>
            <a:r>
              <a:rPr lang="en-US" sz="1150" dirty="0">
                <a:solidFill>
                  <a:srgbClr val="505050"/>
                </a:solidFill>
                <a:latin typeface="Plus Jakarta Sans" pitchFamily="34" charset="0"/>
                <a:ea typeface="Plus Jakarta Sans" pitchFamily="34" charset="-122"/>
                <a:cs typeface="Plus Jakarta Sans" pitchFamily="34" charset="-120"/>
              </a:rPr>
              <a:t>KPIs, alert thresholds, and objectives configured to your business.</a:t>
            </a:r>
            <a:endParaRPr lang="en-US" sz="1150" dirty="0"/>
          </a:p>
        </p:txBody>
      </p:sp>
      <p:sp>
        <p:nvSpPr>
          <p:cNvPr id="14" name="Shape 12"/>
          <p:cNvSpPr/>
          <p:nvPr/>
        </p:nvSpPr>
        <p:spPr>
          <a:xfrm>
            <a:off x="7931140" y="2857500"/>
            <a:ext cx="381030" cy="381030"/>
          </a:xfrm>
          <a:prstGeom prst="roundRect">
            <a:avLst>
              <a:gd name="adj" fmla="val 29998"/>
            </a:avLst>
          </a:prstGeom>
          <a:solidFill>
            <a:srgbClr val="FF8431"/>
          </a:solidFill>
          <a:ln/>
          <a:effectLst>
            <a:outerShdw sx="100000" sy="100000" kx="0" ky="0" algn="bl" rotWithShape="0" blurRad="127000" dist="38100" dir="5400000">
              <a:srgbClr val="FF8431">
                <a:alpha val="45000"/>
              </a:srgbClr>
            </a:outerShdw>
          </a:effectLst>
        </p:spPr>
      </p:sp>
      <p:sp>
        <p:nvSpPr>
          <p:cNvPr id="15" name="Text 13"/>
          <p:cNvSpPr/>
          <p:nvPr/>
        </p:nvSpPr>
        <p:spPr>
          <a:xfrm>
            <a:off x="7931140" y="2857500"/>
            <a:ext cx="381030" cy="381030"/>
          </a:xfrm>
          <a:prstGeom prst="rect">
            <a:avLst/>
          </a:prstGeom>
          <a:noFill/>
          <a:ln/>
        </p:spPr>
        <p:txBody>
          <a:bodyPr wrap="square" lIns="0" tIns="0" rIns="0" bIns="0" rtlCol="0" anchor="ctr"/>
          <a:lstStyle/>
          <a:p>
            <a:pPr algn="ctr" indent="0" marL="0">
              <a:buNone/>
            </a:pPr>
            <a:r>
              <a:rPr lang="en-US" sz="1500" b="1" dirty="0">
                <a:solidFill>
                  <a:srgbClr val="FFFFFF"/>
                </a:solidFill>
                <a:latin typeface="Bricolage Grotesque" pitchFamily="34" charset="0"/>
                <a:ea typeface="Bricolage Grotesque" pitchFamily="34" charset="-122"/>
                <a:cs typeface="Bricolage Grotesque" pitchFamily="34" charset="-120"/>
              </a:rPr>
              <a:t>3</a:t>
            </a:r>
            <a:endParaRPr lang="en-US" sz="1500" dirty="0"/>
          </a:p>
        </p:txBody>
      </p:sp>
      <p:sp>
        <p:nvSpPr>
          <p:cNvPr id="16" name="Text 14"/>
          <p:cNvSpPr/>
          <p:nvPr/>
        </p:nvSpPr>
        <p:spPr>
          <a:xfrm>
            <a:off x="7931140" y="3409980"/>
            <a:ext cx="3117830" cy="285750"/>
          </a:xfrm>
          <a:prstGeom prst="rect">
            <a:avLst/>
          </a:prstGeom>
          <a:noFill/>
          <a:ln/>
        </p:spPr>
        <p:txBody>
          <a:bodyPr wrap="square" lIns="0" tIns="0" rIns="0" bIns="0" rtlCol="0" anchor="t"/>
          <a:lstStyle/>
          <a:p>
            <a:pPr algn="l" indent="0" marL="0">
              <a:buNone/>
            </a:pPr>
            <a:r>
              <a:rPr lang="en-US" sz="1600" b="1" spc="-20" kern="0" dirty="0">
                <a:solidFill>
                  <a:srgbClr val="02021E"/>
                </a:solidFill>
                <a:latin typeface="Bricolage Grotesque" pitchFamily="34" charset="0"/>
                <a:ea typeface="Bricolage Grotesque" pitchFamily="34" charset="-122"/>
                <a:cs typeface="Bricolage Grotesque" pitchFamily="34" charset="-120"/>
              </a:rPr>
              <a:t>Week 2 — Brief</a:t>
            </a:r>
            <a:endParaRPr lang="en-US" sz="1600" dirty="0"/>
          </a:p>
        </p:txBody>
      </p:sp>
      <p:sp>
        <p:nvSpPr>
          <p:cNvPr id="17" name="Text 15"/>
          <p:cNvSpPr/>
          <p:nvPr/>
        </p:nvSpPr>
        <p:spPr>
          <a:xfrm>
            <a:off x="7931140" y="3733770"/>
            <a:ext cx="3098810" cy="1333470"/>
          </a:xfrm>
          <a:prstGeom prst="rect">
            <a:avLst/>
          </a:prstGeom>
          <a:noFill/>
          <a:ln/>
        </p:spPr>
        <p:txBody>
          <a:bodyPr wrap="square" lIns="0" tIns="0" rIns="0" bIns="0" rtlCol="0" anchor="t"/>
          <a:lstStyle/>
          <a:p>
            <a:pPr algn="l" indent="0" marL="0">
              <a:lnSpc>
                <a:spcPct val="132000"/>
              </a:lnSpc>
              <a:buNone/>
            </a:pPr>
            <a:r>
              <a:rPr lang="en-US" sz="1150" dirty="0">
                <a:solidFill>
                  <a:srgbClr val="505050"/>
                </a:solidFill>
                <a:latin typeface="Plus Jakarta Sans" pitchFamily="34" charset="0"/>
                <a:ea typeface="Plus Jakarta Sans" pitchFamily="34" charset="-122"/>
                <a:cs typeface="Plus Jakarta Sans" pitchFamily="34" charset="-120"/>
              </a:rPr>
              <a:t>First intelligence briefing delivered. Fully operational.</a:t>
            </a:r>
            <a:endParaRPr lang="en-US" sz="1150" dirty="0"/>
          </a:p>
        </p:txBody>
      </p:sp>
      <p:sp>
        <p:nvSpPr>
          <p:cNvPr id="18" name="Text 16"/>
          <p:cNvSpPr/>
          <p:nvPr/>
        </p:nvSpPr>
        <p:spPr>
          <a:xfrm>
            <a:off x="10572750" y="5943600"/>
            <a:ext cx="571500" cy="228600"/>
          </a:xfrm>
          <a:prstGeom prst="rect">
            <a:avLst/>
          </a:prstGeom>
          <a:noFill/>
          <a:ln/>
        </p:spPr>
        <p:txBody>
          <a:bodyPr wrap="square" lIns="0" tIns="0" rIns="0" bIns="0" rtlCol="0" anchor="ctr"/>
          <a:lstStyle/>
          <a:p>
            <a:pPr algn="r" indent="0" marL="0">
              <a:buNone/>
            </a:pPr>
            <a:r>
              <a:rPr lang="en-US" sz="1100" b="1" dirty="0">
                <a:solidFill>
                  <a:srgbClr val="9CA3AF"/>
                </a:solidFill>
                <a:latin typeface="Plus Jakarta Sans" pitchFamily="34" charset="0"/>
                <a:ea typeface="Plus Jakarta Sans" pitchFamily="34" charset="-122"/>
                <a:cs typeface="Plus Jakarta San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47720" y="1695480"/>
            <a:ext cx="9334470" cy="209580"/>
          </a:xfrm>
          <a:prstGeom prst="rect">
            <a:avLst/>
          </a:prstGeom>
          <a:noFill/>
          <a:ln/>
        </p:spPr>
        <p:txBody>
          <a:bodyPr wrap="square" lIns="0" tIns="0" rIns="0" bIns="0" rtlCol="0" anchor="ctr"/>
          <a:lstStyle/>
          <a:p>
            <a:pPr algn="l" indent="0" marL="0">
              <a:buNone/>
            </a:pPr>
            <a:r>
              <a:rPr lang="en-US" sz="1100" b="1" spc="160" kern="0" dirty="0">
                <a:solidFill>
                  <a:srgbClr val="C9C9FF"/>
                </a:solidFill>
                <a:latin typeface="Plus Jakarta Sans" pitchFamily="34" charset="0"/>
                <a:ea typeface="Plus Jakarta Sans" pitchFamily="34" charset="-122"/>
                <a:cs typeface="Plus Jakarta Sans" pitchFamily="34" charset="-120"/>
              </a:rPr>
              <a:t>GET STARTED</a:t>
            </a:r>
            <a:endParaRPr lang="en-US" sz="1100" dirty="0"/>
          </a:p>
        </p:txBody>
      </p:sp>
      <p:sp>
        <p:nvSpPr>
          <p:cNvPr id="3" name="Text 1"/>
          <p:cNvSpPr/>
          <p:nvPr/>
        </p:nvSpPr>
        <p:spPr>
          <a:xfrm>
            <a:off x="1047720" y="2019270"/>
            <a:ext cx="9525030" cy="1904970"/>
          </a:xfrm>
          <a:prstGeom prst="rect">
            <a:avLst/>
          </a:prstGeom>
          <a:noFill/>
          <a:ln/>
        </p:spPr>
        <p:txBody>
          <a:bodyPr wrap="square" lIns="0" tIns="0" rIns="0" bIns="0" rtlCol="0" anchor="t"/>
          <a:lstStyle/>
          <a:p>
            <a:pPr algn="l" indent="0" marL="0">
              <a:lnSpc>
                <a:spcPct val="106000"/>
              </a:lnSpc>
              <a:buNone/>
            </a:pPr>
            <a:r>
              <a:rPr lang="en-US" sz="4000" b="1" spc="-80" kern="0" dirty="0">
                <a:solidFill>
                  <a:srgbClr val="FFFFFF"/>
                </a:solidFill>
                <a:latin typeface="Bricolage Grotesque" pitchFamily="34" charset="0"/>
                <a:ea typeface="Bricolage Grotesque" pitchFamily="34" charset="-122"/>
                <a:cs typeface="Bricolage Grotesque" pitchFamily="34" charset="-120"/>
              </a:rPr>
              <a:t>See what your business looks like with one memory instead of five.</a:t>
            </a:r>
            <a:endParaRPr lang="en-US" sz="4000" dirty="0"/>
          </a:p>
        </p:txBody>
      </p:sp>
      <p:sp>
        <p:nvSpPr>
          <p:cNvPr id="4" name="Shape 2"/>
          <p:cNvSpPr/>
          <p:nvPr/>
        </p:nvSpPr>
        <p:spPr>
          <a:xfrm>
            <a:off x="1047720" y="4229100"/>
            <a:ext cx="2476470" cy="476220"/>
          </a:xfrm>
          <a:prstGeom prst="roundRect">
            <a:avLst>
              <a:gd name="adj" fmla="val 50000"/>
            </a:avLst>
          </a:prstGeom>
          <a:solidFill>
            <a:srgbClr val="FF8431"/>
          </a:solidFill>
          <a:ln/>
          <a:effectLst>
            <a:outerShdw sx="100000" sy="100000" kx="0" ky="0" algn="bl" rotWithShape="0" blurRad="177800" dist="50800" dir="5400000">
              <a:srgbClr val="FF8431">
                <a:alpha val="50000"/>
              </a:srgbClr>
            </a:outerShdw>
          </a:effectLst>
        </p:spPr>
      </p:sp>
      <p:sp>
        <p:nvSpPr>
          <p:cNvPr id="5" name="Text 3"/>
          <p:cNvSpPr/>
          <p:nvPr/>
        </p:nvSpPr>
        <p:spPr>
          <a:xfrm>
            <a:off x="1047720" y="4229100"/>
            <a:ext cx="2476470" cy="476220"/>
          </a:xfrm>
          <a:prstGeom prst="rect">
            <a:avLst/>
          </a:prstGeom>
          <a:noFill/>
          <a:ln/>
        </p:spPr>
        <p:txBody>
          <a:bodyPr wrap="square" lIns="0" tIns="0" rIns="0" bIns="0" rtlCol="0" anchor="ctr"/>
          <a:lstStyle/>
          <a:p>
            <a:pPr algn="ctr" indent="0" marL="0">
              <a:buNone/>
            </a:pPr>
            <a:r>
              <a:rPr lang="en-US" sz="1350" b="1" dirty="0">
                <a:solidFill>
                  <a:srgbClr val="FFFFFF"/>
                </a:solidFill>
                <a:latin typeface="Plus Jakarta Sans" pitchFamily="34" charset="0"/>
                <a:ea typeface="Plus Jakarta Sans" pitchFamily="34" charset="-122"/>
                <a:cs typeface="Plus Jakarta Sans" pitchFamily="34" charset="-120"/>
              </a:rPr>
              <a:t>Book a working session  →</a:t>
            </a:r>
            <a:endParaRPr lang="en-US" sz="1350" dirty="0"/>
          </a:p>
        </p:txBody>
      </p:sp>
      <p:sp>
        <p:nvSpPr>
          <p:cNvPr id="6" name="Text 4"/>
          <p:cNvSpPr/>
          <p:nvPr/>
        </p:nvSpPr>
        <p:spPr>
          <a:xfrm>
            <a:off x="1047720" y="5105370"/>
            <a:ext cx="5715000" cy="247620"/>
          </a:xfrm>
          <a:prstGeom prst="rect">
            <a:avLst/>
          </a:prstGeom>
          <a:noFill/>
          <a:ln/>
        </p:spPr>
        <p:txBody>
          <a:bodyPr wrap="square" lIns="0" tIns="0" rIns="0" bIns="0" rtlCol="0" anchor="t"/>
          <a:lstStyle/>
          <a:p>
            <a:pPr algn="l" indent="0" marL="0">
              <a:buNone/>
            </a:pPr>
            <a:r>
              <a:rPr lang="en-US" sz="1300" dirty="0">
                <a:solidFill>
                  <a:srgbClr val="9A9AB0"/>
                </a:solidFill>
                <a:latin typeface="Plus Jakarta Sans" pitchFamily="34" charset="0"/>
                <a:ea typeface="Plus Jakarta Sans" pitchFamily="34" charset="-122"/>
                <a:cs typeface="Plus Jakarta Sans" pitchFamily="34" charset="-120"/>
              </a:rPr>
              <a:t>hello@seekalfred.ai  ·  seekalfred.ai</a:t>
            </a:r>
            <a:endParaRPr lang="en-US" sz="1300" dirty="0"/>
          </a:p>
        </p:txBody>
      </p:sp>
      <p:pic>
        <p:nvPicPr>
          <p:cNvPr id="7" name="Image 0" descr="assets/alfred-logo-white.png">    </p:cNvPr>
          <p:cNvPicPr>
            <a:picLocks noChangeAspect="1"/>
          </p:cNvPicPr>
          <p:nvPr/>
        </p:nvPicPr>
        <p:blipFill>
          <a:blip r:embed="rId2"/>
          <a:stretch>
            <a:fillRect/>
          </a:stretch>
        </p:blipFill>
        <p:spPr>
          <a:xfrm>
            <a:off x="9886950" y="761970"/>
            <a:ext cx="1257300" cy="3031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Alfred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Alfred Corporate Deck</dc:title>
  <dc:subject>PptxGenJS Presentation</dc:subject>
  <dc:creator>Alfred AI</dc:creator>
  <cp:lastModifiedBy>Alfred AI</cp:lastModifiedBy>
  <cp:revision>1</cp:revision>
  <dcterms:created xsi:type="dcterms:W3CDTF">2026-06-26T07:49:21Z</dcterms:created>
  <dcterms:modified xsi:type="dcterms:W3CDTF">2026-06-26T07:49:21Z</dcterms:modified>
</cp:coreProperties>
</file>